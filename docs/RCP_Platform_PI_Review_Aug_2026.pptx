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A24"/>
          </a:solidFill>
          <a:ln w="10160">
            <a:solidFill>
              <a:srgbClr val="101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731520"/>
            <a:ext cx="1234440" cy="1234440"/>
          </a:xfrm>
          <a:prstGeom prst="ellipse">
            <a:avLst/>
          </a:prstGeom>
          <a:solidFill>
            <a:srgbClr val="087F95"/>
          </a:solidFill>
          <a:ln w="1270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1508760"/>
            <a:ext cx="768096" cy="768096"/>
          </a:xfrm>
          <a:prstGeom prst="ellipse">
            <a:avLst/>
          </a:prstGeom>
          <a:solidFill>
            <a:srgbClr val="6750A4"/>
          </a:solidFill>
          <a:ln w="1270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2834640"/>
            <a:ext cx="1097280" cy="1097280"/>
          </a:xfrm>
          <a:prstGeom prst="ellipse">
            <a:avLst/>
          </a:prstGeom>
          <a:solidFill>
            <a:srgbClr val="C98212"/>
          </a:solidFill>
          <a:ln w="1270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3840480"/>
            <a:ext cx="822960" cy="822960"/>
          </a:xfrm>
          <a:prstGeom prst="ellipse">
            <a:avLst/>
          </a:prstGeom>
          <a:solidFill>
            <a:srgbClr val="21AFC1"/>
          </a:solidFill>
          <a:ln w="1270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0" y="4800600"/>
            <a:ext cx="1417320" cy="1417320"/>
          </a:xfrm>
          <a:prstGeom prst="ellipse">
            <a:avLst/>
          </a:prstGeom>
          <a:solidFill>
            <a:srgbClr val="087F95"/>
          </a:solidFill>
          <a:ln w="1270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0" y="2331720"/>
            <a:ext cx="640080" cy="640080"/>
          </a:xfrm>
          <a:prstGeom prst="ellipse">
            <a:avLst/>
          </a:prstGeom>
          <a:solidFill>
            <a:srgbClr val="6750A4"/>
          </a:solidFill>
          <a:ln w="1270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7635240" y="1353312"/>
            <a:ext cx="1280160" cy="1298448"/>
          </a:xfrm>
          <a:prstGeom prst="line">
            <a:avLst/>
          </a:prstGeom>
          <a:ln w="15240">
            <a:solidFill>
              <a:srgbClr val="365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915400" y="1353312"/>
            <a:ext cx="1234440" cy="475488"/>
          </a:xfrm>
          <a:prstGeom prst="line">
            <a:avLst/>
          </a:prstGeom>
          <a:ln w="15240">
            <a:solidFill>
              <a:srgbClr val="365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149840" y="1828800"/>
            <a:ext cx="868680" cy="1554480"/>
          </a:xfrm>
          <a:prstGeom prst="line">
            <a:avLst/>
          </a:prstGeom>
          <a:ln w="15240">
            <a:solidFill>
              <a:srgbClr val="365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012680" y="3383280"/>
            <a:ext cx="1005840" cy="2103120"/>
          </a:xfrm>
          <a:prstGeom prst="line">
            <a:avLst/>
          </a:prstGeom>
          <a:ln w="15240">
            <a:solidFill>
              <a:srgbClr val="365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8641080" y="4251960"/>
            <a:ext cx="1371600" cy="1234440"/>
          </a:xfrm>
          <a:prstGeom prst="line">
            <a:avLst/>
          </a:prstGeom>
          <a:ln w="15240">
            <a:solidFill>
              <a:srgbClr val="3652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66928" y="530352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21AFC1"/>
          </a:solidFill>
          <a:ln w="1016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30352"/>
            <a:ext cx="475488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Noto Sans"/>
              </a:defRPr>
            </a:pPr>
            <a: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85216"/>
            <a:ext cx="3657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7C3D1"/>
                </a:solidFill>
                <a:latin typeface="Noto Sans"/>
              </a:defRPr>
            </a:pPr>
            <a:r>
              <a:t>RCP PLATFORM · PI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874519"/>
            <a:ext cx="6949440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Noto Sans"/>
              </a:defRPr>
            </a:pPr>
            <a:r>
              <a:t>From research question</a:t>
            </a:r>
            <a:br/>
            <a:r>
              <a:t>to auditable simulation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310128"/>
            <a:ext cx="6263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BD1DC"/>
                </a:solidFill>
                <a:latin typeface="Noto Sans"/>
              </a:defRPr>
            </a:pPr>
            <a:r>
              <a:t>A practical research cockpit combining literature memory, constrained LLM reasoning, reproducible Modelica experiments, and claim-level provenance.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4681728"/>
            <a:ext cx="5650992" cy="0"/>
          </a:xfrm>
          <a:prstGeom prst="line">
            <a:avLst/>
          </a:prstGeom>
          <a:ln w="12700">
            <a:solidFill>
              <a:srgbClr val="3952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4864608"/>
            <a:ext cx="6492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AFC1"/>
                </a:solidFill>
                <a:latin typeface="Noto Sans"/>
              </a:defRPr>
            </a:pPr>
            <a:r>
              <a:t>MODELICA  ×  LLM-GUIDED RESEARCH  ×  AUDITABLE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016752"/>
            <a:ext cx="29260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39EAC"/>
                </a:solidFill>
                <a:latin typeface="Noto Sans"/>
              </a:defRPr>
            </a:pPr>
            <a:r>
              <a:t>17 AUGUST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355080"/>
            <a:ext cx="548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78909E"/>
                </a:solidFill>
                <a:latin typeface="Noto San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87F95"/>
                </a:solidFill>
                <a:latin typeface="Noto Sans"/>
              </a:defRPr>
            </a:pPr>
            <a:r>
              <a:t>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The platform is a research control plane—not an autonomous scientist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It accelerates the tractable parts of computational research while making human choices and model limitations visible.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55648"/>
            <a:ext cx="3502152" cy="2999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755648"/>
            <a:ext cx="73152" cy="2999232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3816" y="1975104"/>
            <a:ext cx="438912" cy="438912"/>
          </a:xfrm>
          <a:prstGeom prst="ellipse">
            <a:avLst/>
          </a:prstGeom>
          <a:solidFill>
            <a:srgbClr val="087F95"/>
          </a:solidFill>
          <a:ln w="1270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1975104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1956816"/>
            <a:ext cx="255117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What it automates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2468880"/>
            <a:ext cx="3044952" cy="21214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E7182"/>
                </a:solidFill>
                <a:latin typeface="Noto Sans"/>
              </a:defRPr>
            </a:pPr>
            <a:r>
              <a:t>Literature retrieval and screening</a:t>
            </a:r>
            <a:br/>
            <a:r>
              <a:t>Structured gap and hypothesis drafts</a:t>
            </a:r>
            <a:br/>
            <a:r>
              <a:t>Model selection and bounded parameterization</a:t>
            </a:r>
            <a:br/>
            <a:r>
              <a:t>Batch execution, analysis, and reporting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755648"/>
            <a:ext cx="3502152" cy="2999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755648"/>
            <a:ext cx="73152" cy="2999232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62856" y="1975104"/>
            <a:ext cx="438912" cy="438912"/>
          </a:xfrm>
          <a:prstGeom prst="ellipse">
            <a:avLst/>
          </a:prstGeom>
          <a:solidFill>
            <a:srgbClr val="6750A4"/>
          </a:solidFill>
          <a:ln w="1270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2856" y="1975104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1496" y="1956816"/>
            <a:ext cx="255117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What remains human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2468880"/>
            <a:ext cx="3044952" cy="21214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E7182"/>
                </a:solidFill>
                <a:latin typeface="Noto Sans"/>
              </a:defRPr>
            </a:pPr>
            <a:r>
              <a:t>Choice of research direction</a:t>
            </a:r>
            <a:br/>
            <a:r>
              <a:t>Approval of the scientific plan</a:t>
            </a:r>
            <a:br/>
            <a:r>
              <a:t>Interpretation of trade-offs</a:t>
            </a:r>
            <a:br/>
            <a:r>
              <a:t>Judgment about validity and contribution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755648"/>
            <a:ext cx="3502152" cy="2999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1755648"/>
            <a:ext cx="73152" cy="2999232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11896" y="1975104"/>
            <a:ext cx="438912" cy="438912"/>
          </a:xfrm>
          <a:prstGeom prst="ellipse">
            <a:avLst/>
          </a:prstGeom>
          <a:solidFill>
            <a:srgbClr val="C98212"/>
          </a:solidFill>
          <a:ln w="1270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1896" y="1975104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0536" y="1956816"/>
            <a:ext cx="255117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What is auditable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1" y="2468880"/>
            <a:ext cx="3044952" cy="21214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5E7182"/>
                </a:solidFill>
                <a:latin typeface="Noto Sans"/>
              </a:defRPr>
            </a:pPr>
            <a:r>
              <a:t>Frozen literature snapshot</a:t>
            </a:r>
            <a:br/>
            <a:r>
              <a:t>Approved plan and protocol hashes</a:t>
            </a:r>
            <a:br/>
            <a:r>
              <a:t>Pinned runtime and raw-file fingerprints</a:t>
            </a:r>
            <a:br/>
            <a:r>
              <a:t>Revisioned analysis and claim links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5084064"/>
            <a:ext cx="10515600" cy="713232"/>
          </a:xfrm>
          <a:prstGeom prst="roundRect">
            <a:avLst>
              <a:gd name="adj" fmla="val 12000"/>
            </a:avLst>
          </a:prstGeom>
          <a:solidFill>
            <a:srgbClr val="DDF4F7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" y="5230368"/>
            <a:ext cx="1007668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87F95"/>
                </a:solidFill>
                <a:latin typeface="Noto Sans"/>
              </a:defRPr>
            </a:pPr>
            <a:r>
              <a:t>Core proposition: move faster without collapsing generation, execution, evidence, and scientific judgment into one opaque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87F95"/>
                </a:solidFill>
                <a:latin typeface="Noto Sans"/>
              </a:defRPr>
            </a:pPr>
            <a:r>
              <a:t>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Computational research is fragmented at exactly the points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The costly work is not one simulation—it is preserving intent and evidence across the whole loop.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55648"/>
            <a:ext cx="532180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55648"/>
            <a:ext cx="73152" cy="1627632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1975104"/>
            <a:ext cx="438912" cy="438912"/>
          </a:xfrm>
          <a:prstGeom prst="ellipse">
            <a:avLst/>
          </a:prstGeom>
          <a:solidFill>
            <a:srgbClr val="087F95"/>
          </a:solidFill>
          <a:ln w="1270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1975104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1956816"/>
            <a:ext cx="437083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Literature drift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2468880"/>
            <a:ext cx="4864608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Searches change; rationales disappear; missing abstracts are easily overinterpreted.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755648"/>
            <a:ext cx="532180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755648"/>
            <a:ext cx="73152" cy="1627632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64808" y="1975104"/>
            <a:ext cx="438912" cy="438912"/>
          </a:xfrm>
          <a:prstGeom prst="ellipse">
            <a:avLst/>
          </a:prstGeom>
          <a:solidFill>
            <a:srgbClr val="6750A4"/>
          </a:solidFill>
          <a:ln w="1270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1975104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3448" y="1956816"/>
            <a:ext cx="437083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Plan drift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2468880"/>
            <a:ext cx="4864608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Parameters and metrics change between the research question, execution, and analysis.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749039"/>
            <a:ext cx="532180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3749039"/>
            <a:ext cx="73152" cy="1627632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1248" y="3968496"/>
            <a:ext cx="438912" cy="438912"/>
          </a:xfrm>
          <a:prstGeom prst="ellipse">
            <a:avLst/>
          </a:prstGeom>
          <a:solidFill>
            <a:srgbClr val="C98212"/>
          </a:solidFill>
          <a:ln w="1270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3968496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3950207"/>
            <a:ext cx="437083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Environment 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462272"/>
            <a:ext cx="4864608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Model libraries, solvers, and runtime images silently alter behavior.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5352" y="3749039"/>
            <a:ext cx="532180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45352" y="3749039"/>
            <a:ext cx="73152" cy="1627632"/>
          </a:xfrm>
          <a:prstGeom prst="rect">
            <a:avLst/>
          </a:prstGeom>
          <a:solidFill>
            <a:srgbClr val="B94747"/>
          </a:solidFill>
          <a:ln w="10160">
            <a:solidFill>
              <a:srgbClr val="B9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64808" y="3968496"/>
            <a:ext cx="438912" cy="438912"/>
          </a:xfrm>
          <a:prstGeom prst="ellipse">
            <a:avLst/>
          </a:prstGeom>
          <a:solidFill>
            <a:srgbClr val="B94747"/>
          </a:solidFill>
          <a:ln w="12700">
            <a:solidFill>
              <a:srgbClr val="B9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3968496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3448" y="3950207"/>
            <a:ext cx="437083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Evidence drift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1384" y="4462272"/>
            <a:ext cx="4864608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Final prose becomes detached from cases, files, comparisons, and caveats.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660136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87F95"/>
                </a:solidFill>
                <a:latin typeface="Noto Sans"/>
              </a:defRPr>
            </a:pPr>
            <a:r>
              <a:t>The design response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5586984"/>
            <a:ext cx="89611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Treat every transition as a typed, inspectable artifact—not just a prompt or log 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87F95"/>
                </a:solidFill>
                <a:latin typeface="Noto Sans"/>
              </a:defRPr>
            </a:pPr>
            <a:r>
              <a:t>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Scope is intentionally narrow: defensible simulation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The current domain is data-center cooling, but the control pattern is designed to generalize.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19072"/>
            <a:ext cx="1115568" cy="283464"/>
          </a:xfrm>
          <a:prstGeom prst="roundRect">
            <a:avLst>
              <a:gd name="adj" fmla="val 12000"/>
            </a:avLst>
          </a:prstGeom>
          <a:solidFill>
            <a:srgbClr val="E2F6EE"/>
          </a:solidFill>
          <a:ln w="10160">
            <a:solidFill>
              <a:srgbClr val="E2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732787"/>
            <a:ext cx="1042415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6825D"/>
                </a:solidFill>
                <a:latin typeface="Noto Sans"/>
              </a:defRPr>
            </a:pPr>
            <a:r>
              <a:t>IN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176272"/>
            <a:ext cx="50749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  <a:defRPr sz="1500">
                <a:solidFill>
                  <a:srgbClr val="233444"/>
                </a:solidFill>
                <a:latin typeface="Noto Sans"/>
              </a:defRPr>
            </a:pPr>
            <a:r>
              <a:rPr>
                <a:latin typeface="Noto Sans"/>
              </a:rPr>
              <a:t>•  Turn a research profile into ranked, traceable hypothesis candidates</a:t>
            </a:r>
          </a:p>
          <a:p>
            <a:pPr>
              <a:lnSpc>
                <a:spcPct val="106000"/>
              </a:lnSpc>
              <a:spcAft>
                <a:spcPts val="1300"/>
              </a:spcAft>
              <a:defRPr sz="1500">
                <a:solidFill>
                  <a:srgbClr val="233444"/>
                </a:solidFill>
                <a:latin typeface="Noto Sans"/>
              </a:defRPr>
            </a:pPr>
            <a:r>
              <a:rPr>
                <a:latin typeface="Noto Sans"/>
              </a:rPr>
              <a:t>•  Compile approved ideas into registered Modelica experiments</a:t>
            </a:r>
          </a:p>
          <a:p>
            <a:pPr>
              <a:lnSpc>
                <a:spcPct val="106000"/>
              </a:lnSpc>
              <a:spcAft>
                <a:spcPts val="1300"/>
              </a:spcAft>
              <a:defRPr sz="1500">
                <a:solidFill>
                  <a:srgbClr val="233444"/>
                </a:solidFill>
                <a:latin typeface="Noto Sans"/>
              </a:defRPr>
            </a:pPr>
            <a:r>
              <a:rPr>
                <a:latin typeface="Noto Sans"/>
              </a:rPr>
              <a:t>•  Execute matched studies inside a pinned OpenModelica environment</a:t>
            </a:r>
          </a:p>
          <a:p>
            <a:pPr>
              <a:lnSpc>
                <a:spcPct val="106000"/>
              </a:lnSpc>
              <a:spcAft>
                <a:spcPts val="1300"/>
              </a:spcAft>
              <a:defRPr sz="1500">
                <a:solidFill>
                  <a:srgbClr val="233444"/>
                </a:solidFill>
                <a:latin typeface="Noto Sans"/>
              </a:defRPr>
            </a:pPr>
            <a:r>
              <a:rPr>
                <a:latin typeface="Noto Sans"/>
              </a:rPr>
              <a:t>•  Verify raw results, analyze under a preregistered protocol, and draft linked claims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53328" y="1737360"/>
            <a:ext cx="0" cy="3950208"/>
          </a:xfrm>
          <a:prstGeom prst="line">
            <a:avLst/>
          </a:prstGeom>
          <a:ln w="1397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55080" y="1719072"/>
            <a:ext cx="1417320" cy="283464"/>
          </a:xfrm>
          <a:prstGeom prst="roundRect">
            <a:avLst>
              <a:gd name="adj" fmla="val 12000"/>
            </a:avLst>
          </a:prstGeom>
          <a:solidFill>
            <a:srgbClr val="FBE9E9"/>
          </a:solidFill>
          <a:ln w="10160">
            <a:solidFill>
              <a:srgbClr val="FBE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732787"/>
            <a:ext cx="134416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B94747"/>
                </a:solidFill>
                <a:latin typeface="Noto Sans"/>
              </a:defRPr>
            </a:pPr>
            <a:r>
              <a:t>NOT CLAIMED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176272"/>
            <a:ext cx="48920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  <a:defRPr sz="1500">
                <a:solidFill>
                  <a:srgbClr val="233444"/>
                </a:solidFill>
                <a:latin typeface="Noto Sans"/>
              </a:defRPr>
            </a:pPr>
            <a:r>
              <a:rPr>
                <a:latin typeface="Noto Sans"/>
              </a:rPr>
              <a:t>•  Autonomous novelty determination or publication readiness</a:t>
            </a:r>
          </a:p>
          <a:p>
            <a:pPr>
              <a:lnSpc>
                <a:spcPct val="106000"/>
              </a:lnSpc>
              <a:spcAft>
                <a:spcPts val="1300"/>
              </a:spcAft>
              <a:defRPr sz="1500">
                <a:solidFill>
                  <a:srgbClr val="233444"/>
                </a:solidFill>
                <a:latin typeface="Noto Sans"/>
              </a:defRPr>
            </a:pPr>
            <a:r>
              <a:rPr>
                <a:latin typeface="Noto Sans"/>
              </a:rPr>
              <a:t>•  Physical validation without calibration data</a:t>
            </a:r>
          </a:p>
          <a:p>
            <a:pPr>
              <a:lnSpc>
                <a:spcPct val="106000"/>
              </a:lnSpc>
              <a:spcAft>
                <a:spcPts val="1300"/>
              </a:spcAft>
              <a:defRPr sz="1500">
                <a:solidFill>
                  <a:srgbClr val="233444"/>
                </a:solidFill>
                <a:latin typeface="Noto Sans"/>
              </a:defRPr>
            </a:pPr>
            <a:r>
              <a:rPr>
                <a:latin typeface="Noto Sans"/>
              </a:rPr>
              <a:t>•  Universal correctness of an LLM-generated hypothesis</a:t>
            </a:r>
          </a:p>
          <a:p>
            <a:pPr>
              <a:lnSpc>
                <a:spcPct val="106000"/>
              </a:lnSpc>
              <a:spcAft>
                <a:spcPts val="1300"/>
              </a:spcAft>
              <a:defRPr sz="1500">
                <a:solidFill>
                  <a:srgbClr val="233444"/>
                </a:solidFill>
                <a:latin typeface="Noto Sans"/>
              </a:defRPr>
            </a:pPr>
            <a:r>
              <a:rPr>
                <a:latin typeface="Noto Sans"/>
              </a:rPr>
              <a:t>•  Replacement for a PI, domain expert, or independent reviewer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5193792"/>
            <a:ext cx="10515600" cy="612648"/>
          </a:xfrm>
          <a:prstGeom prst="roundRect">
            <a:avLst>
              <a:gd name="adj" fmla="val 12000"/>
            </a:avLst>
          </a:prstGeom>
          <a:solidFill>
            <a:srgbClr val="FFF3DC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5340096"/>
            <a:ext cx="10076688" cy="3383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C98212"/>
                </a:solidFill>
                <a:latin typeface="Noto Sans"/>
              </a:defRPr>
            </a:pPr>
            <a:r>
              <a:t>Success means a shorter path to a reviewable study—not an automated scientific verdict.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87F95"/>
                </a:solidFill>
                <a:latin typeface="Noto Sans"/>
              </a:defRPr>
            </a:pPr>
            <a:r>
              <a:t>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One closed loop connects intent, execution,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Eleven workflow nodes create explicit hand-offs; two human gates stop silent scientific drift.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6583680"/>
            <a:ext cx="708660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8393A0"/>
                </a:solidFill>
                <a:latin typeface="Noto Sans"/>
              </a:defRPr>
            </a:pPr>
            <a:r>
              <a:t>Source: /api/health node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" y="1783080"/>
            <a:ext cx="1874519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929384"/>
            <a:ext cx="15453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Research</a:t>
            </a:r>
            <a:br/>
            <a:r>
              <a:t>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267712"/>
            <a:ext cx="1581911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01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59736" y="2286000"/>
            <a:ext cx="310896" cy="0"/>
          </a:xfrm>
          <a:prstGeom prst="line">
            <a:avLst/>
          </a:prstGeom>
          <a:ln w="20320">
            <a:solidFill>
              <a:srgbClr val="087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52928" y="1783080"/>
            <a:ext cx="1874519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1929384"/>
            <a:ext cx="15453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Gap</a:t>
            </a:r>
            <a:br/>
            <a:r>
              <a:t>mining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267712"/>
            <a:ext cx="1581911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02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36592" y="2286000"/>
            <a:ext cx="310896" cy="0"/>
          </a:xfrm>
          <a:prstGeom prst="line">
            <a:avLst/>
          </a:prstGeom>
          <a:ln w="20320">
            <a:solidFill>
              <a:srgbClr val="087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29784" y="1783080"/>
            <a:ext cx="1874519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94376" y="1929384"/>
            <a:ext cx="15453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Hypothesis</a:t>
            </a:r>
            <a:br/>
            <a:r>
              <a:t>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2267712"/>
            <a:ext cx="1581911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03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13448" y="2286000"/>
            <a:ext cx="310896" cy="0"/>
          </a:xfrm>
          <a:prstGeom prst="line">
            <a:avLst/>
          </a:prstGeom>
          <a:ln w="20320">
            <a:solidFill>
              <a:srgbClr val="087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06640" y="1783080"/>
            <a:ext cx="1874519" cy="1005840"/>
          </a:xfrm>
          <a:prstGeom prst="roundRect">
            <a:avLst>
              <a:gd name="adj" fmla="val 12000"/>
            </a:avLst>
          </a:prstGeom>
          <a:solidFill>
            <a:srgbClr val="6750A4"/>
          </a:solidFill>
          <a:ln w="1524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71232" y="1929384"/>
            <a:ext cx="15453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FFFF"/>
                </a:solidFill>
                <a:latin typeface="Noto Sans"/>
              </a:defRPr>
            </a:pPr>
            <a:r>
              <a:t>Select</a:t>
            </a:r>
            <a:br/>
            <a:r>
              <a:t>hypothesis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2267712"/>
            <a:ext cx="1581911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E4EFF3"/>
                </a:solidFill>
                <a:latin typeface="Noto Sans"/>
              </a:defRPr>
            </a:pPr>
            <a:r>
              <a:t>human gate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90304" y="2286000"/>
            <a:ext cx="310896" cy="0"/>
          </a:xfrm>
          <a:prstGeom prst="line">
            <a:avLst/>
          </a:prstGeom>
          <a:ln w="20320">
            <a:solidFill>
              <a:srgbClr val="6750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83496" y="1783080"/>
            <a:ext cx="1874519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48088" y="1929384"/>
            <a:ext cx="15453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Compile</a:t>
            </a:r>
            <a:br/>
            <a:r>
              <a:t>specification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267712"/>
            <a:ext cx="1581911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05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" y="3749039"/>
            <a:ext cx="1874519" cy="1005840"/>
          </a:xfrm>
          <a:prstGeom prst="roundRect">
            <a:avLst>
              <a:gd name="adj" fmla="val 12000"/>
            </a:avLst>
          </a:prstGeom>
          <a:solidFill>
            <a:srgbClr val="6750A4"/>
          </a:solidFill>
          <a:ln w="1524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" y="3895344"/>
            <a:ext cx="15453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FFFF"/>
                </a:solidFill>
                <a:latin typeface="Noto Sans"/>
              </a:defRPr>
            </a:pPr>
            <a:r>
              <a:t>Approve</a:t>
            </a:r>
            <a:br/>
            <a:r>
              <a:t>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4233672"/>
            <a:ext cx="1581911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E4EFF3"/>
                </a:solidFill>
                <a:latin typeface="Noto Sans"/>
              </a:defRPr>
            </a:pPr>
            <a:r>
              <a:t>human gate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459736" y="4251959"/>
            <a:ext cx="310896" cy="0"/>
          </a:xfrm>
          <a:prstGeom prst="line">
            <a:avLst/>
          </a:prstGeom>
          <a:ln w="20320">
            <a:solidFill>
              <a:srgbClr val="6750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852928" y="3749039"/>
            <a:ext cx="1874519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17520" y="3895344"/>
            <a:ext cx="15453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Run</a:t>
            </a:r>
            <a:br/>
            <a:r>
              <a:t>Modelica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99232" y="4233672"/>
            <a:ext cx="1581911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07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736592" y="4251959"/>
            <a:ext cx="310896" cy="0"/>
          </a:xfrm>
          <a:prstGeom prst="line">
            <a:avLst/>
          </a:prstGeom>
          <a:ln w="20320">
            <a:solidFill>
              <a:srgbClr val="21AF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129784" y="3749039"/>
            <a:ext cx="1874519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94376" y="3895344"/>
            <a:ext cx="15453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Analyze</a:t>
            </a:r>
            <a:br/>
            <a:r>
              <a:t>results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76088" y="4233672"/>
            <a:ext cx="1581911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08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013448" y="4251959"/>
            <a:ext cx="310896" cy="0"/>
          </a:xfrm>
          <a:prstGeom prst="line">
            <a:avLst/>
          </a:prstGeom>
          <a:ln w="20320">
            <a:solidFill>
              <a:srgbClr val="21AF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406640" y="3749039"/>
            <a:ext cx="1874519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71232" y="3895344"/>
            <a:ext cx="15453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Review</a:t>
            </a:r>
            <a:br/>
            <a:r>
              <a:t>evidence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52944" y="4233672"/>
            <a:ext cx="1581911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09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290304" y="4251959"/>
            <a:ext cx="310896" cy="0"/>
          </a:xfrm>
          <a:prstGeom prst="line">
            <a:avLst/>
          </a:prstGeom>
          <a:ln w="20320">
            <a:solidFill>
              <a:srgbClr val="087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683496" y="3749039"/>
            <a:ext cx="1874519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48088" y="3895344"/>
            <a:ext cx="15453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Draft</a:t>
            </a:r>
            <a:br/>
            <a:r>
              <a:t>report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29800" y="4233672"/>
            <a:ext cx="1581911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10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1503152" y="2286000"/>
            <a:ext cx="0" cy="1444752"/>
          </a:xfrm>
          <a:prstGeom prst="line">
            <a:avLst/>
          </a:prstGeom>
          <a:ln w="17780">
            <a:solidFill>
              <a:srgbClr val="087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9674352" y="3730752"/>
            <a:ext cx="1828800" cy="0"/>
          </a:xfrm>
          <a:prstGeom prst="line">
            <a:avLst/>
          </a:prstGeom>
          <a:ln w="17780">
            <a:solidFill>
              <a:srgbClr val="087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743200" y="5212080"/>
            <a:ext cx="67208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62656" y="5358384"/>
            <a:ext cx="6281927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6750A4"/>
                </a:solidFill>
                <a:latin typeface="Noto Sans"/>
              </a:defRPr>
            </a:pPr>
            <a:r>
              <a:t>Failure handling is explicit; plan revision loops are bounded to three attempts.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87F95"/>
                </a:solidFill>
                <a:latin typeface="Noto Sans"/>
              </a:defRPr>
            </a:pPr>
            <a:r>
              <a:t>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Four layers separate probabilistic reasoning from deterministic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This boundary is the core reliability mechanism.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73352"/>
            <a:ext cx="745236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1673352"/>
            <a:ext cx="987552" cy="731520"/>
          </a:xfrm>
          <a:prstGeom prst="roundRect">
            <a:avLst>
              <a:gd name="adj" fmla="val 12000"/>
            </a:avLst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673352"/>
            <a:ext cx="987552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792224"/>
            <a:ext cx="2743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62231"/>
                </a:solidFill>
                <a:latin typeface="Noto Sans"/>
              </a:defRPr>
            </a:pPr>
            <a:r>
              <a:t>01 · RESEARCH 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792224"/>
            <a:ext cx="31546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E7182"/>
                </a:solidFill>
                <a:latin typeface="Noto Sans"/>
              </a:defRPr>
            </a:pPr>
            <a:r>
              <a:t>Profiles · gates · run cockpit · evidence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615184"/>
            <a:ext cx="745236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" y="2615184"/>
            <a:ext cx="987552" cy="731520"/>
          </a:xfrm>
          <a:prstGeom prst="roundRect">
            <a:avLst>
              <a:gd name="adj" fmla="val 12000"/>
            </a:avLst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615184"/>
            <a:ext cx="987552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734056"/>
            <a:ext cx="2743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62231"/>
                </a:solidFill>
                <a:latin typeface="Noto Sans"/>
              </a:defRPr>
            </a:pPr>
            <a:r>
              <a:t>02 · AGENT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734056"/>
            <a:ext cx="31546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E7182"/>
                </a:solidFill>
                <a:latin typeface="Noto Sans"/>
              </a:defRPr>
            </a:pPr>
            <a:r>
              <a:t>Typed state · constrained LLM calls · revision loops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557016"/>
            <a:ext cx="745236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3557016"/>
            <a:ext cx="987552" cy="731520"/>
          </a:xfrm>
          <a:prstGeom prst="roundRect">
            <a:avLst>
              <a:gd name="adj" fmla="val 12000"/>
            </a:avLst>
          </a:prstGeom>
          <a:solidFill>
            <a:srgbClr val="21AFC1"/>
          </a:solidFill>
          <a:ln w="1016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557016"/>
            <a:ext cx="987552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675888"/>
            <a:ext cx="2743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62231"/>
                </a:solidFill>
                <a:latin typeface="Noto Sans"/>
              </a:defRPr>
            </a:pPr>
            <a:r>
              <a:t>03 · SCIENTIFIC RUNTIME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675888"/>
            <a:ext cx="31546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E7182"/>
                </a:solidFill>
                <a:latin typeface="Noto Sans"/>
              </a:defRPr>
            </a:pPr>
            <a:r>
              <a:t>Registry · compiler · OpenModelica · batch analysis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498848"/>
            <a:ext cx="745236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3232" y="4498848"/>
            <a:ext cx="987552" cy="731520"/>
          </a:xfrm>
          <a:prstGeom prst="roundRect">
            <a:avLst>
              <a:gd name="adj" fmla="val 12000"/>
            </a:avLst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498848"/>
            <a:ext cx="987552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617720"/>
            <a:ext cx="2743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62231"/>
                </a:solidFill>
                <a:latin typeface="Noto Sans"/>
              </a:defRPr>
            </a:pPr>
            <a:r>
              <a:t>04 · EVIDENCE 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617720"/>
            <a:ext cx="31546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E7182"/>
                </a:solidFill>
                <a:latin typeface="Noto Sans"/>
              </a:defRPr>
            </a:pPr>
            <a:r>
              <a:t>Snapshots · raw series · hashes · revisions · exports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68512" y="1673352"/>
            <a:ext cx="2788920" cy="3557016"/>
          </a:xfrm>
          <a:prstGeom prst="roundRect">
            <a:avLst>
              <a:gd name="adj" fmla="val 12000"/>
            </a:avLst>
          </a:prstGeom>
          <a:solidFill>
            <a:srgbClr val="162231"/>
          </a:solidFill>
          <a:ln w="10160">
            <a:solidFill>
              <a:srgbClr val="16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79408" y="1993392"/>
            <a:ext cx="2148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1AFC1"/>
                </a:solidFill>
                <a:latin typeface="Noto Sans"/>
              </a:defRPr>
            </a:pPr>
            <a:r>
              <a:t>Boundary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9408" y="2542032"/>
            <a:ext cx="2148840" cy="2240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Noto Sans"/>
              </a:defRPr>
            </a:pPr>
            <a:r>
              <a:t>LLMs may propose.</a:t>
            </a:r>
            <a:br/>
            <a:br/>
            <a:r>
              <a:t>Schemas must validate.</a:t>
            </a:r>
            <a:br/>
            <a:br/>
            <a:r>
              <a:t>Compilers bound.</a:t>
            </a:r>
            <a:br/>
            <a:br/>
            <a:r>
              <a:t>Runtimes measure.</a:t>
            </a:r>
            <a:br/>
            <a:br/>
            <a:r>
              <a:t>Hashes prove.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26464" y="5504688"/>
            <a:ext cx="9326880" cy="530352"/>
          </a:xfrm>
          <a:prstGeom prst="roundRect">
            <a:avLst>
              <a:gd name="adj" fmla="val 12000"/>
            </a:avLst>
          </a:prstGeom>
          <a:solidFill>
            <a:srgbClr val="DDF4F7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650992"/>
            <a:ext cx="8887967" cy="25603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87F95"/>
                </a:solidFill>
                <a:latin typeface="Noto Sans"/>
              </a:defRPr>
            </a:pPr>
            <a:r>
              <a:t>A fluent answer is never treated as a simulation result.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82296" cy="420624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603504"/>
            <a:ext cx="2743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6750A4"/>
                </a:solidFill>
                <a:latin typeface="Noto Sans"/>
              </a:defRPr>
            </a:pPr>
            <a: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81912"/>
            <a:ext cx="1060704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Noto Sans"/>
              </a:defRPr>
            </a:pPr>
            <a:r>
              <a:t>Constrained intelligence, not free-form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496312"/>
            <a:ext cx="987552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C6D6DF"/>
                </a:solidFill>
                <a:latin typeface="Noto Sans"/>
              </a:defRPr>
            </a:pPr>
            <a:r>
              <a:t>The LLM is useful where ambiguity is real—synthesis, framing, and drafting. Deterministic components take over where correctness can be checked.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6656" y="4160520"/>
            <a:ext cx="10204704" cy="0"/>
          </a:xfrm>
          <a:prstGeom prst="line">
            <a:avLst/>
          </a:prstGeom>
          <a:ln w="12700">
            <a:solidFill>
              <a:srgbClr val="4053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76656" y="4498848"/>
            <a:ext cx="2011680" cy="283464"/>
          </a:xfrm>
          <a:prstGeom prst="roundRect">
            <a:avLst>
              <a:gd name="adj" fmla="val 12000"/>
            </a:avLst>
          </a:prstGeom>
          <a:solidFill>
            <a:srgbClr val="203442"/>
          </a:solidFill>
          <a:ln w="10160">
            <a:solidFill>
              <a:srgbClr val="36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512564"/>
            <a:ext cx="193852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BEAF0"/>
                </a:solidFill>
                <a:latin typeface="Noto Sans"/>
              </a:defRPr>
            </a:pPr>
            <a:r>
              <a:t>Research 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2928" y="4498848"/>
            <a:ext cx="2148840" cy="283464"/>
          </a:xfrm>
          <a:prstGeom prst="roundRect">
            <a:avLst>
              <a:gd name="adj" fmla="val 12000"/>
            </a:avLst>
          </a:prstGeom>
          <a:solidFill>
            <a:srgbClr val="203442"/>
          </a:solidFill>
          <a:ln w="10160">
            <a:solidFill>
              <a:srgbClr val="36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4512564"/>
            <a:ext cx="207568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BEAF0"/>
                </a:solidFill>
                <a:latin typeface="Noto Sans"/>
              </a:defRPr>
            </a:pPr>
            <a:r>
              <a:t>Schema constraints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4498848"/>
            <a:ext cx="1609344" cy="283464"/>
          </a:xfrm>
          <a:prstGeom prst="roundRect">
            <a:avLst>
              <a:gd name="adj" fmla="val 12000"/>
            </a:avLst>
          </a:prstGeom>
          <a:solidFill>
            <a:srgbClr val="203442"/>
          </a:solidFill>
          <a:ln w="10160">
            <a:solidFill>
              <a:srgbClr val="36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02936" y="4512564"/>
            <a:ext cx="153619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BEAF0"/>
                </a:solidFill>
                <a:latin typeface="Noto Sans"/>
              </a:defRPr>
            </a:pPr>
            <a:r>
              <a:t>Human gates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0296" y="4498848"/>
            <a:ext cx="2148840" cy="283464"/>
          </a:xfrm>
          <a:prstGeom prst="roundRect">
            <a:avLst>
              <a:gd name="adj" fmla="val 12000"/>
            </a:avLst>
          </a:prstGeom>
          <a:solidFill>
            <a:srgbClr val="203442"/>
          </a:solidFill>
          <a:ln w="10160">
            <a:solidFill>
              <a:srgbClr val="36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6872" y="4512564"/>
            <a:ext cx="207568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BEAF0"/>
                </a:solidFill>
                <a:latin typeface="Noto Sans"/>
              </a:defRPr>
            </a:pPr>
            <a:r>
              <a:t>Deterministic compiler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3144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B7C7D2"/>
                </a:solidFill>
                <a:latin typeface="Noto Sans"/>
              </a:defRPr>
            </a:pPr>
            <a:r>
              <a:t>RCP.2026/11  ·  PI REVIEW  ·  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B7C7D2"/>
                </a:solidFill>
                <a:latin typeface="Noto San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6750A4"/>
                </a:solidFill>
                <a:latin typeface="Noto Sans"/>
              </a:defRPr>
            </a:pPr>
            <a: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Research Memory freezes the literature context used by the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A reproducible snapshot makes later hypotheses and claims inspectable.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64208"/>
            <a:ext cx="3236976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810512"/>
            <a:ext cx="29077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Query 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148840"/>
            <a:ext cx="2944368" cy="27431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4 focused queries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31336" y="2093976"/>
            <a:ext cx="356616" cy="0"/>
          </a:xfrm>
          <a:prstGeom prst="line">
            <a:avLst/>
          </a:prstGeom>
          <a:ln w="15240">
            <a:solidFill>
              <a:srgbClr val="83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70832" y="1664208"/>
            <a:ext cx="3236976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810512"/>
            <a:ext cx="29077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Dual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148840"/>
            <a:ext cx="2944368" cy="27431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OpenAlex + Semantic Scholar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07808" y="2093976"/>
            <a:ext cx="356616" cy="0"/>
          </a:xfrm>
          <a:prstGeom prst="line">
            <a:avLst/>
          </a:prstGeom>
          <a:ln w="15240">
            <a:solidFill>
              <a:srgbClr val="83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47304" y="1664208"/>
            <a:ext cx="3236976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1810512"/>
            <a:ext cx="29077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Resolve 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148840"/>
            <a:ext cx="2944368" cy="27431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DOI deduplication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962656"/>
            <a:ext cx="3236976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3108960"/>
            <a:ext cx="29077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Screen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" y="3447288"/>
            <a:ext cx="2944368" cy="27431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Relevance + disclosure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31336" y="3392424"/>
            <a:ext cx="356616" cy="0"/>
          </a:xfrm>
          <a:prstGeom prst="line">
            <a:avLst/>
          </a:prstGeom>
          <a:ln w="15240">
            <a:solidFill>
              <a:srgbClr val="83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370832" y="2962656"/>
            <a:ext cx="3236976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5424" y="3108960"/>
            <a:ext cx="29077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Enrich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3447288"/>
            <a:ext cx="2944368" cy="27431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Crossref metadata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07808" y="3392424"/>
            <a:ext cx="356616" cy="0"/>
          </a:xfrm>
          <a:prstGeom prst="line">
            <a:avLst/>
          </a:prstGeom>
          <a:ln w="15240">
            <a:solidFill>
              <a:srgbClr val="83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147304" y="2962656"/>
            <a:ext cx="3236976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1896" y="3108960"/>
            <a:ext cx="29077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Rank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3447288"/>
            <a:ext cx="2944368" cy="27431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Deterministic weights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261104"/>
            <a:ext cx="3236976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4407408"/>
            <a:ext cx="29077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Extract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" y="4745736"/>
            <a:ext cx="2944368" cy="27431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PaperCards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831336" y="4690872"/>
            <a:ext cx="356616" cy="0"/>
          </a:xfrm>
          <a:prstGeom prst="line">
            <a:avLst/>
          </a:prstGeom>
          <a:ln w="15240">
            <a:solidFill>
              <a:srgbClr val="83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370832" y="4261104"/>
            <a:ext cx="3236976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5424" y="4407408"/>
            <a:ext cx="29077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17136" y="4745736"/>
            <a:ext cx="2944368" cy="27431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Themes + gaps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607808" y="4690872"/>
            <a:ext cx="356616" cy="0"/>
          </a:xfrm>
          <a:prstGeom prst="line">
            <a:avLst/>
          </a:prstGeom>
          <a:ln w="15240">
            <a:solidFill>
              <a:srgbClr val="83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147304" y="4261104"/>
            <a:ext cx="3236976" cy="868680"/>
          </a:xfrm>
          <a:prstGeom prst="roundRect">
            <a:avLst>
              <a:gd name="adj" fmla="val 12000"/>
            </a:avLst>
          </a:prstGeom>
          <a:solidFill>
            <a:srgbClr val="C98212"/>
          </a:solidFill>
          <a:ln w="1524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11896" y="4407408"/>
            <a:ext cx="29077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FFFF"/>
                </a:solidFill>
                <a:latin typeface="Noto Sans"/>
              </a:defRPr>
            </a:pPr>
            <a:r>
              <a:t>Freeze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3608" y="4745736"/>
            <a:ext cx="2944368" cy="27431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E4EFF3"/>
                </a:solidFill>
                <a:latin typeface="Noto Sans"/>
              </a:defRPr>
            </a:pPr>
            <a:r>
              <a:t>Snapshot hash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8992" y="5577840"/>
            <a:ext cx="10012680" cy="502920"/>
          </a:xfrm>
          <a:prstGeom prst="roundRect">
            <a:avLst>
              <a:gd name="adj" fmla="val 12000"/>
            </a:avLst>
          </a:prstGeom>
          <a:solidFill>
            <a:srgbClr val="FFF3DC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98448" y="5724144"/>
            <a:ext cx="9573767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C98212"/>
                </a:solidFill>
                <a:latin typeface="Noto Sans"/>
              </a:defRPr>
            </a:pPr>
            <a:r>
              <a:t>Missing abstracts are marked insufficient; the platform does not invent methods or limitations to complete a card.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6750A4"/>
                </a:solidFill>
                <a:latin typeface="Noto Sans"/>
              </a:defRPr>
            </a:pPr>
            <a: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Ranking is deterministic and credibility is disclosed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Relevance dominates the score; venue status and evidence completeness remain visible rather than silently blended.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618488"/>
            <a:ext cx="5486400" cy="4389120"/>
          </a:xfrm>
          <a:prstGeom prst="rect">
            <a:avLst/>
          </a:prstGeom>
          <a:solidFill>
            <a:srgbClr val="FFFFFF"/>
          </a:solidFill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per_rank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124322"/>
            <a:ext cx="5486400" cy="33774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30352" y="1618488"/>
            <a:ext cx="5486400" cy="4389120"/>
          </a:xfrm>
          <a:prstGeom prst="rect">
            <a:avLst/>
          </a:prstGeom>
          <a:noFill/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737360"/>
            <a:ext cx="5138928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73152" cy="932688"/>
          </a:xfrm>
          <a:prstGeom prst="rect">
            <a:avLst/>
          </a:prstGeom>
          <a:solidFill>
            <a:srgbClr val="16825D"/>
          </a:solidFill>
          <a:ln w="10160">
            <a:solidFill>
              <a:srgbClr val="1682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20256" y="1956815"/>
            <a:ext cx="438912" cy="438912"/>
          </a:xfrm>
          <a:prstGeom prst="ellipse">
            <a:avLst/>
          </a:prstGeom>
          <a:solidFill>
            <a:srgbClr val="16825D"/>
          </a:solidFill>
          <a:ln w="12700">
            <a:solidFill>
              <a:srgbClr val="1682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0256" y="1956815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8896" y="1938528"/>
            <a:ext cx="41879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2450591"/>
            <a:ext cx="4681728" cy="54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E7182"/>
                </a:solidFill>
                <a:latin typeface="Noto Sans"/>
              </a:defRPr>
            </a:pPr>
            <a:r>
              <a:t>Cross-source identity and publication metadata align.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98064"/>
            <a:ext cx="5138928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798064"/>
            <a:ext cx="73152" cy="932688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20256" y="3017520"/>
            <a:ext cx="438912" cy="438912"/>
          </a:xfrm>
          <a:prstGeom prst="ellipse">
            <a:avLst/>
          </a:prstGeom>
          <a:solidFill>
            <a:srgbClr val="C98212"/>
          </a:solidFill>
          <a:ln w="1270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017520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999232"/>
            <a:ext cx="41879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Likely / uncertain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3511296"/>
            <a:ext cx="4681728" cy="54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E7182"/>
                </a:solidFill>
                <a:latin typeface="Noto Sans"/>
              </a:defRPr>
            </a:pPr>
            <a:r>
              <a:t>Evidence is usable with an explicit confidence label.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858768"/>
            <a:ext cx="5138928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3858768"/>
            <a:ext cx="73152" cy="932688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20256" y="4078224"/>
            <a:ext cx="438912" cy="438912"/>
          </a:xfrm>
          <a:prstGeom prst="ellipse">
            <a:avLst/>
          </a:prstGeom>
          <a:solidFill>
            <a:srgbClr val="6750A4"/>
          </a:solidFill>
          <a:ln w="1270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0256" y="4078224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8896" y="4059935"/>
            <a:ext cx="41879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Preprint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4572000"/>
            <a:ext cx="4681728" cy="54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E7182"/>
                </a:solidFill>
                <a:latin typeface="Noto Sans"/>
              </a:defRPr>
            </a:pPr>
            <a:r>
              <a:t>Not discarded—but never presented as peer-reviewed.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37960" y="5138928"/>
            <a:ext cx="4828032" cy="621792"/>
          </a:xfrm>
          <a:prstGeom prst="roundRect">
            <a:avLst>
              <a:gd name="adj" fmla="val 12000"/>
            </a:avLst>
          </a:prstGeom>
          <a:solidFill>
            <a:srgbClr val="DDF4F7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57416" y="5285232"/>
            <a:ext cx="438912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87F95"/>
                </a:solidFill>
                <a:latin typeface="Noto Sans"/>
              </a:defRPr>
            </a:pPr>
            <a:r>
              <a:t>The ranking can prioritize attention; it cannot determine truth.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6750A4"/>
                </a:solidFill>
                <a:latin typeface="Noto Sans"/>
              </a:defRPr>
            </a:pPr>
            <a: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The LLM layer is replaceable, constrained, and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Current default: DeepSeek V4 Flash through an OpenRouter-compatible endpoint.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6583680"/>
            <a:ext cx="708660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8393A0"/>
                </a:solidFill>
                <a:latin typeface="Noto Sans"/>
              </a:defRPr>
            </a:pPr>
            <a:r>
              <a:t>Source: src/rcp/config.py and src/rcp/llm/client.py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37360"/>
            <a:ext cx="2505456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737360"/>
            <a:ext cx="2505456" cy="54864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947672"/>
            <a:ext cx="210312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87F95"/>
                </a:solidFill>
                <a:latin typeface="Noto Sans"/>
              </a:defRPr>
            </a:pPr>
            <a:r>
              <a:t>0.2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487168"/>
            <a:ext cx="21031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Temperature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2816352"/>
            <a:ext cx="2103120" cy="3657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>
                <a:solidFill>
                  <a:srgbClr val="5E7182"/>
                </a:solidFill>
                <a:latin typeface="Noto Sans"/>
              </a:defRPr>
            </a:pPr>
            <a:r>
              <a:t>Bias toward repeatable structured outputs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1737360"/>
            <a:ext cx="2505456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1737360"/>
            <a:ext cx="2505456" cy="54864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8728" y="1947672"/>
            <a:ext cx="210312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750A4"/>
                </a:solidFill>
                <a:latin typeface="Noto Sans"/>
              </a:defRPr>
            </a:pPr>
            <a:r>
              <a:t>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8" y="2487168"/>
            <a:ext cx="21031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Pydantic schemas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2816352"/>
            <a:ext cx="2103120" cy="3657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>
                <a:solidFill>
                  <a:srgbClr val="5E7182"/>
                </a:solidFill>
                <a:latin typeface="Noto Sans"/>
              </a:defRPr>
            </a:pPr>
            <a:r>
              <a:t>Reject malformed or incomplete responses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1737360"/>
            <a:ext cx="2505456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1737360"/>
            <a:ext cx="2505456" cy="54864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7" y="1947672"/>
            <a:ext cx="210312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98212"/>
                </a:solidFill>
                <a:latin typeface="Noto Sans"/>
              </a:defRPr>
            </a:pPr>
            <a:r>
              <a:t>Retry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7" y="2487168"/>
            <a:ext cx="21031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Validation repair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7" y="2816352"/>
            <a:ext cx="2103120" cy="3657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>
                <a:solidFill>
                  <a:srgbClr val="5E7182"/>
                </a:solidFill>
                <a:latin typeface="Noto Sans"/>
              </a:defRPr>
            </a:pPr>
            <a:r>
              <a:t>A bounded second chance—not silent coercion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32520" y="1737360"/>
            <a:ext cx="2505456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32520" y="1737360"/>
            <a:ext cx="2505456" cy="54864"/>
          </a:xfrm>
          <a:prstGeom prst="rect">
            <a:avLst/>
          </a:prstGeom>
          <a:solidFill>
            <a:srgbClr val="21AFC1"/>
          </a:solidFill>
          <a:ln w="1016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33688" y="1947672"/>
            <a:ext cx="210312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1AFC1"/>
                </a:solidFill>
                <a:latin typeface="Noto Sans"/>
              </a:defRPr>
            </a:pPr>
            <a:r>
              <a:t>Usage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33688" y="2487168"/>
            <a:ext cx="21031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Token capture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33688" y="2816352"/>
            <a:ext cx="2103120" cy="3657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>
                <a:solidFill>
                  <a:srgbClr val="5E7182"/>
                </a:solidFill>
                <a:latin typeface="Noto Sans"/>
              </a:defRPr>
            </a:pPr>
            <a:r>
              <a:t>Per-call accounting retained in run state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703320"/>
            <a:ext cx="3410712" cy="1444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3703320"/>
            <a:ext cx="73152" cy="1444752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3904487"/>
            <a:ext cx="2971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Provider-agnostic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4416552"/>
            <a:ext cx="2953512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E7182"/>
                </a:solidFill>
                <a:latin typeface="Noto Sans"/>
              </a:defRPr>
            </a:pPr>
            <a:r>
              <a:t>OpenAI-compatible client boundary allows model replacement without changing scientific artifacts.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3703320"/>
            <a:ext cx="3410712" cy="1444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0" y="3703320"/>
            <a:ext cx="73152" cy="1444752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3904487"/>
            <a:ext cx="2971799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Reasoning separated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4416552"/>
            <a:ext cx="2953512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E7182"/>
                </a:solidFill>
                <a:latin typeface="Noto Sans"/>
              </a:defRPr>
            </a:pPr>
            <a:r>
              <a:t>Generated hypotheses and prose never overwrite observed Modelica outputs or hashes.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3703320"/>
            <a:ext cx="3410712" cy="1444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60" y="3703320"/>
            <a:ext cx="73152" cy="1444752"/>
          </a:xfrm>
          <a:prstGeom prst="rect">
            <a:avLst/>
          </a:prstGeom>
          <a:solidFill>
            <a:srgbClr val="B94747"/>
          </a:solidFill>
          <a:ln w="10160">
            <a:solidFill>
              <a:srgbClr val="B9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94192" y="3904487"/>
            <a:ext cx="2971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Failure visible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4192" y="4416552"/>
            <a:ext cx="2953512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E7182"/>
                </a:solidFill>
                <a:latin typeface="Noto Sans"/>
              </a:defRPr>
            </a:pPr>
            <a:r>
              <a:t>Provider warnings, schema failures, and missing evidence propagate to the user interface.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63040" y="5458968"/>
            <a:ext cx="9281160" cy="5577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82496" y="5605272"/>
            <a:ext cx="8842248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6750A4"/>
                </a:solidFill>
                <a:latin typeface="Noto Sans"/>
              </a:defRPr>
            </a:pPr>
            <a:r>
              <a:t>Model choice is a configuration decision; evidentiary rules are platform invariants.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6750A4"/>
                </a:solidFill>
                <a:latin typeface="Noto Sans"/>
              </a:defRPr>
            </a:pPr>
            <a: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Every task is assigned to the least ambiguous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This division of labor reduces hallucination surface and makes failures diagnosable.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00784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750A4"/>
                </a:solidFill>
                <a:latin typeface="Noto Sans"/>
              </a:defRPr>
            </a:pPr>
            <a:r>
              <a:t>LLM-SUITABLE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00784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87F95"/>
                </a:solidFill>
                <a:latin typeface="Noto Sans"/>
              </a:defRPr>
            </a:pPr>
            <a:r>
              <a:t>DETERMINISTIC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2176272"/>
            <a:ext cx="438912" cy="438912"/>
          </a:xfrm>
          <a:prstGeom prst="ellipse">
            <a:avLst/>
          </a:prstGeom>
          <a:solidFill>
            <a:srgbClr val="6750A4"/>
          </a:solidFill>
          <a:ln w="1270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176272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167128"/>
            <a:ext cx="424281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2231"/>
                </a:solidFill>
                <a:latin typeface="Noto Sans"/>
              </a:defRPr>
            </a:pPr>
            <a:r>
              <a:t>Synthesize literature themes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2487168"/>
            <a:ext cx="4242816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E7182"/>
                </a:solidFill>
                <a:latin typeface="Noto Sans"/>
              </a:defRPr>
            </a:pPr>
            <a:r>
              <a:t>Useful where judgment and language matter.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3026664"/>
            <a:ext cx="438912" cy="438912"/>
          </a:xfrm>
          <a:prstGeom prst="ellipse">
            <a:avLst/>
          </a:prstGeom>
          <a:solidFill>
            <a:srgbClr val="6750A4"/>
          </a:solidFill>
          <a:ln w="1270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026664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017520"/>
            <a:ext cx="424281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2231"/>
                </a:solidFill>
                <a:latin typeface="Noto Sans"/>
              </a:defRPr>
            </a:pPr>
            <a:r>
              <a:t>Propose research gaps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8176" y="3337560"/>
            <a:ext cx="4242816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E7182"/>
                </a:solidFill>
                <a:latin typeface="Noto Sans"/>
              </a:defRPr>
            </a:pPr>
            <a:r>
              <a:t>Useful where judgment and language matter.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3877056"/>
            <a:ext cx="438912" cy="438912"/>
          </a:xfrm>
          <a:prstGeom prst="ellipse">
            <a:avLst/>
          </a:prstGeom>
          <a:solidFill>
            <a:srgbClr val="6750A4"/>
          </a:solidFill>
          <a:ln w="1270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877056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3867912"/>
            <a:ext cx="424281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2231"/>
                </a:solidFill>
                <a:latin typeface="Noto Sans"/>
              </a:defRPr>
            </a:pPr>
            <a:r>
              <a:t>Draft candidate hypotheses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8176" y="4187952"/>
            <a:ext cx="4242816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E7182"/>
                </a:solidFill>
                <a:latin typeface="Noto Sans"/>
              </a:defRPr>
            </a:pPr>
            <a:r>
              <a:t>Useful where judgment and language matter.</a:t>
            </a:r>
          </a:p>
        </p:txBody>
      </p:sp>
      <p:sp>
        <p:nvSpPr>
          <p:cNvPr id="24" name="Oval 23"/>
          <p:cNvSpPr/>
          <p:nvPr/>
        </p:nvSpPr>
        <p:spPr>
          <a:xfrm>
            <a:off x="804672" y="4727448"/>
            <a:ext cx="438912" cy="438912"/>
          </a:xfrm>
          <a:prstGeom prst="ellipse">
            <a:avLst/>
          </a:prstGeom>
          <a:solidFill>
            <a:srgbClr val="6750A4"/>
          </a:solidFill>
          <a:ln w="1270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727448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8176" y="4718304"/>
            <a:ext cx="424281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2231"/>
                </a:solidFill>
                <a:latin typeface="Noto Sans"/>
              </a:defRPr>
            </a:pPr>
            <a:r>
              <a:t>Explain results in plain language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8176" y="5038344"/>
            <a:ext cx="4242816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E7182"/>
                </a:solidFill>
                <a:latin typeface="Noto Sans"/>
              </a:defRPr>
            </a:pPr>
            <a:r>
              <a:t>Useful where judgment and language matter.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53328" y="1737360"/>
            <a:ext cx="0" cy="3950208"/>
          </a:xfrm>
          <a:prstGeom prst="line">
            <a:avLst/>
          </a:prstGeom>
          <a:ln w="1524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446520" y="2176272"/>
            <a:ext cx="438912" cy="438912"/>
          </a:xfrm>
          <a:prstGeom prst="ellipse">
            <a:avLst/>
          </a:prstGeom>
          <a:solidFill>
            <a:srgbClr val="087F95"/>
          </a:solidFill>
          <a:ln w="1270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176272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0024" y="2167128"/>
            <a:ext cx="424281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2231"/>
                </a:solidFill>
                <a:latin typeface="Noto Sans"/>
              </a:defRPr>
            </a:pPr>
            <a:r>
              <a:t>Resolve and rank papers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0024" y="2487168"/>
            <a:ext cx="4242816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E7182"/>
                </a:solidFill>
                <a:latin typeface="Noto Sans"/>
              </a:defRPr>
            </a:pPr>
            <a:r>
              <a:t>Used where the rule can be made explicit and tested.</a:t>
            </a:r>
          </a:p>
        </p:txBody>
      </p:sp>
      <p:sp>
        <p:nvSpPr>
          <p:cNvPr id="33" name="Oval 32"/>
          <p:cNvSpPr/>
          <p:nvPr/>
        </p:nvSpPr>
        <p:spPr>
          <a:xfrm>
            <a:off x="6446520" y="3026664"/>
            <a:ext cx="438912" cy="438912"/>
          </a:xfrm>
          <a:prstGeom prst="ellipse">
            <a:avLst/>
          </a:prstGeom>
          <a:solidFill>
            <a:srgbClr val="087F95"/>
          </a:solidFill>
          <a:ln w="1270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026664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0024" y="3017520"/>
            <a:ext cx="424281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2231"/>
                </a:solidFill>
                <a:latin typeface="Noto Sans"/>
              </a:defRPr>
            </a:pPr>
            <a:r>
              <a:t>Validate schemas and bounds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0024" y="3337560"/>
            <a:ext cx="4242816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E7182"/>
                </a:solidFill>
                <a:latin typeface="Noto Sans"/>
              </a:defRPr>
            </a:pPr>
            <a:r>
              <a:t>Used where the rule can be made explicit and tested.</a:t>
            </a:r>
          </a:p>
        </p:txBody>
      </p:sp>
      <p:sp>
        <p:nvSpPr>
          <p:cNvPr id="37" name="Oval 36"/>
          <p:cNvSpPr/>
          <p:nvPr/>
        </p:nvSpPr>
        <p:spPr>
          <a:xfrm>
            <a:off x="6446520" y="3877056"/>
            <a:ext cx="438912" cy="438912"/>
          </a:xfrm>
          <a:prstGeom prst="ellipse">
            <a:avLst/>
          </a:prstGeom>
          <a:solidFill>
            <a:srgbClr val="087F95"/>
          </a:solidFill>
          <a:ln w="1270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3877056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0024" y="3867912"/>
            <a:ext cx="424281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2231"/>
                </a:solidFill>
                <a:latin typeface="Noto Sans"/>
              </a:defRPr>
            </a:pPr>
            <a:r>
              <a:t>Compile experiment cases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50024" y="4187952"/>
            <a:ext cx="4242816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E7182"/>
                </a:solidFill>
                <a:latin typeface="Noto Sans"/>
              </a:defRPr>
            </a:pPr>
            <a:r>
              <a:t>Used where the rule can be made explicit and tested.</a:t>
            </a:r>
          </a:p>
        </p:txBody>
      </p:sp>
      <p:sp>
        <p:nvSpPr>
          <p:cNvPr id="41" name="Oval 40"/>
          <p:cNvSpPr/>
          <p:nvPr/>
        </p:nvSpPr>
        <p:spPr>
          <a:xfrm>
            <a:off x="6446520" y="4727448"/>
            <a:ext cx="438912" cy="438912"/>
          </a:xfrm>
          <a:prstGeom prst="ellipse">
            <a:avLst/>
          </a:prstGeom>
          <a:solidFill>
            <a:srgbClr val="087F95"/>
          </a:solidFill>
          <a:ln w="1270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727448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50024" y="4718304"/>
            <a:ext cx="424281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2231"/>
                </a:solidFill>
                <a:latin typeface="Noto Sans"/>
              </a:defRPr>
            </a:pPr>
            <a:r>
              <a:t>Compute metrics, hashes, and quality gates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50024" y="5038344"/>
            <a:ext cx="4242816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E7182"/>
                </a:solidFill>
                <a:latin typeface="Noto Sans"/>
              </a:defRPr>
            </a:pPr>
            <a:r>
              <a:t>Used where the rule can be made explicit and tested.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56231" y="5724144"/>
            <a:ext cx="8485632" cy="438912"/>
          </a:xfrm>
          <a:prstGeom prst="roundRect">
            <a:avLst>
              <a:gd name="adj" fmla="val 12000"/>
            </a:avLst>
          </a:prstGeom>
          <a:solidFill>
            <a:srgbClr val="FFF3DC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75687" y="5870448"/>
            <a:ext cx="8046719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C98212"/>
                </a:solidFill>
                <a:latin typeface="Noto Sans"/>
              </a:defRPr>
            </a:pPr>
            <a:r>
              <a:t>Human judgment spans both columns: selecting questions, approving plans, and interpreting evidence.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6750A4"/>
                </a:solidFill>
                <a:latin typeface="Noto Sans"/>
              </a:defRPr>
            </a:pPr>
            <a: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Typed artifacts are the hand-offs between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Each stage receives a bounded object rather than an unstructured transcript.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64792"/>
            <a:ext cx="3401568" cy="1426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29384"/>
            <a:ext cx="457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87F95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276856"/>
            <a:ext cx="29260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62231"/>
                </a:solidFill>
                <a:latin typeface="Noto Sans"/>
              </a:defRPr>
            </a:pPr>
            <a:r>
              <a:t>ThesisProfile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697480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>
                <a:solidFill>
                  <a:srgbClr val="5E7182"/>
                </a:solidFill>
                <a:latin typeface="Liberation Mono"/>
              </a:defRPr>
            </a:pPr>
            <a:r>
              <a:t>domain · interests · objectives · constraints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7992" y="1764792"/>
            <a:ext cx="3401568" cy="1426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1929384"/>
            <a:ext cx="457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750A4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2276856"/>
            <a:ext cx="29260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62231"/>
                </a:solidFill>
                <a:latin typeface="Noto Sans"/>
              </a:defRPr>
            </a:pPr>
            <a:r>
              <a:t>PaperCard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304" y="2697480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>
                <a:solidFill>
                  <a:srgbClr val="5E7182"/>
                </a:solidFill>
                <a:latin typeface="Liberation Mono"/>
              </a:defRPr>
            </a:pPr>
            <a:r>
              <a:t>identity · methods · findings · limitations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764792"/>
            <a:ext cx="3401568" cy="1426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1929384"/>
            <a:ext cx="457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98212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2276856"/>
            <a:ext cx="29260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62231"/>
                </a:solidFill>
                <a:latin typeface="Noto Sans"/>
              </a:defRPr>
            </a:pPr>
            <a:r>
              <a:t>Hypothesis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2697480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>
                <a:solidFill>
                  <a:srgbClr val="5E7182"/>
                </a:solidFill>
                <a:latin typeface="Liberation Mono"/>
              </a:defRPr>
            </a:pPr>
            <a:r>
              <a:t>question · mechanism · contribution · risks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" y="3648456"/>
            <a:ext cx="3401568" cy="1426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3813048"/>
            <a:ext cx="457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87F95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160520"/>
            <a:ext cx="29260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62231"/>
                </a:solidFill>
                <a:latin typeface="Noto Sans"/>
              </a:defRPr>
            </a:pPr>
            <a:r>
              <a:t>ExperimentPlan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4581144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>
                <a:solidFill>
                  <a:srgbClr val="5E7182"/>
                </a:solidFill>
                <a:latin typeface="Liberation Mono"/>
              </a:defRPr>
            </a:pPr>
            <a:r>
              <a:t>cases · pairs · metrics · protocol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07992" y="3648456"/>
            <a:ext cx="3401568" cy="1426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18304" y="3813048"/>
            <a:ext cx="457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750A4"/>
                </a:solidFill>
                <a:latin typeface="Noto San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8304" y="4160520"/>
            <a:ext cx="29260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62231"/>
                </a:solidFill>
                <a:latin typeface="Noto Sans"/>
              </a:defRPr>
            </a:pPr>
            <a:r>
              <a:t>ResultBundle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18304" y="4581144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>
                <a:solidFill>
                  <a:srgbClr val="5E7182"/>
                </a:solidFill>
                <a:latin typeface="Liberation Mono"/>
              </a:defRPr>
            </a:pPr>
            <a:r>
              <a:t>files · fingerprints · metrics · warnings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3648456"/>
            <a:ext cx="3401568" cy="1426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31352" y="3813048"/>
            <a:ext cx="457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98212"/>
                </a:solidFill>
                <a:latin typeface="Noto Sans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31352" y="4160520"/>
            <a:ext cx="29260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62231"/>
                </a:solidFill>
                <a:latin typeface="Noto Sans"/>
              </a:defRPr>
            </a:pPr>
            <a:r>
              <a:t>Claim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1352" y="4581144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0">
                <a:solidFill>
                  <a:srgbClr val="5E7182"/>
                </a:solidFill>
                <a:latin typeface="Liberation Mono"/>
              </a:defRPr>
            </a:pPr>
            <a:r>
              <a:t>statement · comparison IDs · paper IDs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80160" y="5650992"/>
            <a:ext cx="9646920" cy="493776"/>
          </a:xfrm>
          <a:prstGeom prst="roundRect">
            <a:avLst>
              <a:gd name="adj" fmla="val 12000"/>
            </a:avLst>
          </a:prstGeom>
          <a:solidFill>
            <a:srgbClr val="DDF4F7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99616" y="5797296"/>
            <a:ext cx="9208008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87F95"/>
                </a:solidFill>
                <a:latin typeface="Noto Sans"/>
              </a:defRPr>
            </a:pPr>
            <a:r>
              <a:t>Typed state makes a run resumable, testable, and reviewable without replaying the LLM conversation.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6750A4"/>
                </a:solidFill>
                <a:latin typeface="Noto Sans"/>
              </a:defRPr>
            </a:pPr>
            <a: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The scientific compiler turns an approved idea into executable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It selects only registered models and deterministically clamps or rejects unsafe parameters.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1901952" cy="1170432"/>
          </a:xfrm>
          <a:prstGeom prst="roundRect">
            <a:avLst>
              <a:gd name="adj" fmla="val 12000"/>
            </a:avLst>
          </a:prstGeom>
          <a:solidFill>
            <a:srgbClr val="6750A4"/>
          </a:solidFill>
          <a:ln w="1524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066544"/>
            <a:ext cx="15727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FFFF"/>
                </a:solidFill>
                <a:latin typeface="Noto Sans"/>
              </a:defRPr>
            </a:pPr>
            <a:r>
              <a:t>Approved hypothesis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404872"/>
            <a:ext cx="160934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E4EFF3"/>
                </a:solidFill>
                <a:latin typeface="Noto Sans"/>
              </a:defRPr>
            </a:pPr>
            <a:r>
              <a:t>mechanism + boundary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04872" y="2505456"/>
            <a:ext cx="356616" cy="0"/>
          </a:xfrm>
          <a:prstGeom prst="line">
            <a:avLst/>
          </a:prstGeom>
          <a:ln w="17780">
            <a:solidFill>
              <a:srgbClr val="83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34639" y="1920240"/>
            <a:ext cx="1901952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9232" y="2066544"/>
            <a:ext cx="15727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Registry lookup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2404872"/>
            <a:ext cx="160934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known model + ranges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36592" y="2505456"/>
            <a:ext cx="356616" cy="0"/>
          </a:xfrm>
          <a:prstGeom prst="line">
            <a:avLst/>
          </a:prstGeom>
          <a:ln w="17780">
            <a:solidFill>
              <a:srgbClr val="83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66359" y="1920240"/>
            <a:ext cx="1901952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0951" y="2066544"/>
            <a:ext cx="15727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Parameter binding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2404872"/>
            <a:ext cx="160934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clamp / drop / warn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68312" y="2505456"/>
            <a:ext cx="356615" cy="0"/>
          </a:xfrm>
          <a:prstGeom prst="line">
            <a:avLst/>
          </a:prstGeom>
          <a:ln w="17780">
            <a:solidFill>
              <a:srgbClr val="83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98079" y="1920240"/>
            <a:ext cx="1901952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1" y="2066544"/>
            <a:ext cx="15727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Plan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3" y="2404872"/>
            <a:ext cx="160934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cases + matched pairs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00032" y="2505456"/>
            <a:ext cx="356616" cy="0"/>
          </a:xfrm>
          <a:prstGeom prst="line">
            <a:avLst/>
          </a:prstGeom>
          <a:ln w="17780">
            <a:solidFill>
              <a:srgbClr val="83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29800" y="1920240"/>
            <a:ext cx="1901952" cy="1170432"/>
          </a:xfrm>
          <a:prstGeom prst="roundRect">
            <a:avLst>
              <a:gd name="adj" fmla="val 12000"/>
            </a:avLst>
          </a:prstGeom>
          <a:solidFill>
            <a:srgbClr val="16825D"/>
          </a:solidFill>
          <a:ln w="15240">
            <a:solidFill>
              <a:srgbClr val="1682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94392" y="2066544"/>
            <a:ext cx="15727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FFFF"/>
                </a:solidFill>
                <a:latin typeface="Noto Sans"/>
              </a:defRPr>
            </a:pPr>
            <a:r>
              <a:t>Execution spec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76104" y="2404872"/>
            <a:ext cx="1609344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E4EFF3"/>
                </a:solidFill>
                <a:latin typeface="Noto Sans"/>
              </a:defRPr>
            </a:pPr>
            <a:r>
              <a:t>sealed hash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" y="3785615"/>
            <a:ext cx="3328416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4944" y="3785615"/>
            <a:ext cx="73152" cy="1298448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3986783"/>
            <a:ext cx="288950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Bounded inputs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" y="4498848"/>
            <a:ext cx="2871216" cy="42062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5E7182"/>
                </a:solidFill>
                <a:latin typeface="Noto Sans"/>
              </a:defRPr>
            </a:pPr>
            <a:r>
              <a:t>Ranges, units, defaults, and operating envelopes live with each model.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25696" y="3785615"/>
            <a:ext cx="3328416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25696" y="3785615"/>
            <a:ext cx="73152" cy="1298448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81728" y="3986783"/>
            <a:ext cx="2889503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Reproducible expansion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8" y="4498848"/>
            <a:ext cx="2871216" cy="42062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5E7182"/>
                </a:solidFill>
                <a:latin typeface="Noto Sans"/>
              </a:defRPr>
            </a:pPr>
            <a:r>
              <a:t>A 3 × 3 design becomes 18 explicit cases and nine matched pairs.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56448" y="3785615"/>
            <a:ext cx="3328416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56448" y="3785615"/>
            <a:ext cx="73152" cy="1298448"/>
          </a:xfrm>
          <a:prstGeom prst="rect">
            <a:avLst/>
          </a:prstGeom>
          <a:solidFill>
            <a:srgbClr val="B94747"/>
          </a:solidFill>
          <a:ln w="10160">
            <a:solidFill>
              <a:srgbClr val="B9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3986783"/>
            <a:ext cx="288950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Fail closed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498848"/>
            <a:ext cx="2871216" cy="42062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5E7182"/>
                </a:solidFill>
                <a:latin typeface="Noto Sans"/>
              </a:defRPr>
            </a:pPr>
            <a:r>
              <a:t>Unknown models, invalid structures, or unapproved plans do not reach the runtime.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74519" y="5449824"/>
            <a:ext cx="8485632" cy="548640"/>
          </a:xfrm>
          <a:prstGeom prst="roundRect">
            <a:avLst>
              <a:gd name="adj" fmla="val 12000"/>
            </a:avLst>
          </a:prstGeom>
          <a:solidFill>
            <a:srgbClr val="FFF3DC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93976" y="5596128"/>
            <a:ext cx="8046719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C98212"/>
                </a:solidFill>
                <a:latin typeface="Noto Sans"/>
              </a:defRPr>
            </a:pPr>
            <a:r>
              <a:t>Compilation is the trust boundary between generative intent and physical simulation.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6750A4"/>
                </a:solidFill>
                <a:latin typeface="Noto Sans"/>
              </a:defRPr>
            </a:pPr>
            <a: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Two human gates preserve scientific agency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The platform can operate quickly without treating automation as authorization.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184648" cy="3072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19072"/>
            <a:ext cx="73152" cy="3072384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1938528"/>
            <a:ext cx="438912" cy="438912"/>
          </a:xfrm>
          <a:prstGeom prst="ellipse">
            <a:avLst/>
          </a:prstGeom>
          <a:solidFill>
            <a:srgbClr val="6750A4"/>
          </a:solidFill>
          <a:ln w="1270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938528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H1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1920240"/>
            <a:ext cx="423367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62231"/>
                </a:solidFill>
                <a:latin typeface="Noto Sans"/>
              </a:defRPr>
            </a:pPr>
            <a:r>
              <a:t>Gate 1 · Select hypothesis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2432304"/>
            <a:ext cx="4727448" cy="2194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7182"/>
                </a:solidFill>
                <a:latin typeface="Noto Sans"/>
              </a:defRPr>
            </a:pPr>
            <a:r>
              <a:t>Reviewer sees ranked candidates, the research question, novelty claim, feasibility, supporting papers, risks, model fit, provider warnings, and ranking rationale.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719072"/>
            <a:ext cx="5184648" cy="3072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91072" y="1719072"/>
            <a:ext cx="73152" cy="3072384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10528" y="1938528"/>
            <a:ext cx="438912" cy="438912"/>
          </a:xfrm>
          <a:prstGeom prst="ellipse">
            <a:avLst/>
          </a:prstGeom>
          <a:solidFill>
            <a:srgbClr val="087F95"/>
          </a:solidFill>
          <a:ln w="1270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1938528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H2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1920240"/>
            <a:ext cx="423367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62231"/>
                </a:solidFill>
                <a:latin typeface="Noto Sans"/>
              </a:defRPr>
            </a:pPr>
            <a:r>
              <a:t>Gate 2 · Approve experiment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432304"/>
            <a:ext cx="4727448" cy="2194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7182"/>
                </a:solidFill>
                <a:latin typeface="Noto Sans"/>
              </a:defRPr>
            </a:pPr>
            <a:r>
              <a:t>Reviewer sees the model, parameters, operating ranges, cases, matched comparisons, outputs, metrics, protocol, validation issues, and disclosures before any compute begins.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9904" y="1947672"/>
            <a:ext cx="0" cy="2688336"/>
          </a:xfrm>
          <a:prstGeom prst="line">
            <a:avLst/>
          </a:prstGeom>
          <a:ln w="1270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97280" y="5193792"/>
            <a:ext cx="9994392" cy="621792"/>
          </a:xfrm>
          <a:prstGeom prst="roundRect">
            <a:avLst>
              <a:gd name="adj" fmla="val 12000"/>
            </a:avLst>
          </a:prstGeom>
          <a:solidFill>
            <a:srgbClr val="DDF4F7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6736" y="5340096"/>
            <a:ext cx="955548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87F95"/>
                </a:solidFill>
                <a:latin typeface="Noto Sans"/>
              </a:defRPr>
            </a:pPr>
            <a:r>
              <a:t>Rejecting a plan creates a visible revision request; the loop is capped at three revisions.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82296" cy="420624"/>
          </a:xfrm>
          <a:prstGeom prst="rect">
            <a:avLst/>
          </a:prstGeom>
          <a:solidFill>
            <a:srgbClr val="21AFC1"/>
          </a:solidFill>
          <a:ln w="1016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603504"/>
            <a:ext cx="2743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21AFC1"/>
                </a:solidFill>
                <a:latin typeface="Noto Sans"/>
              </a:defRPr>
            </a:pPr>
            <a: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81912"/>
            <a:ext cx="1060704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Noto Sans"/>
              </a:defRPr>
            </a:pPr>
            <a:r>
              <a:t>Modelica is the executable theory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496312"/>
            <a:ext cx="987552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C6D6DF"/>
                </a:solidFill>
                <a:latin typeface="Noto Sans"/>
              </a:defRPr>
            </a:pPr>
            <a:r>
              <a:t>Equation-based models make assumptions, state, and conservation relationships explicit—while the registry prevents ‘any model, any parameter’ execution.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6656" y="4160520"/>
            <a:ext cx="10204704" cy="0"/>
          </a:xfrm>
          <a:prstGeom prst="line">
            <a:avLst/>
          </a:prstGeom>
          <a:ln w="12700">
            <a:solidFill>
              <a:srgbClr val="4053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76656" y="4498848"/>
            <a:ext cx="1709928" cy="283464"/>
          </a:xfrm>
          <a:prstGeom prst="roundRect">
            <a:avLst>
              <a:gd name="adj" fmla="val 12000"/>
            </a:avLst>
          </a:prstGeom>
          <a:solidFill>
            <a:srgbClr val="203442"/>
          </a:solidFill>
          <a:ln w="10160">
            <a:solidFill>
              <a:srgbClr val="36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512564"/>
            <a:ext cx="1636776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BEAF0"/>
                </a:solidFill>
                <a:latin typeface="Noto Sans"/>
              </a:defRPr>
            </a:pPr>
            <a:r>
              <a:t>OpenModelica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1176" y="4498848"/>
            <a:ext cx="1911095" cy="283464"/>
          </a:xfrm>
          <a:prstGeom prst="roundRect">
            <a:avLst>
              <a:gd name="adj" fmla="val 12000"/>
            </a:avLst>
          </a:prstGeom>
          <a:solidFill>
            <a:srgbClr val="203442"/>
          </a:solidFill>
          <a:ln w="10160">
            <a:solidFill>
              <a:srgbClr val="36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87752" y="4512564"/>
            <a:ext cx="1837943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BEAF0"/>
                </a:solidFill>
                <a:latin typeface="Noto Sans"/>
              </a:defRPr>
            </a:pPr>
            <a:r>
              <a:t>Model registry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26864" y="4498848"/>
            <a:ext cx="2148840" cy="283464"/>
          </a:xfrm>
          <a:prstGeom prst="roundRect">
            <a:avLst>
              <a:gd name="adj" fmla="val 12000"/>
            </a:avLst>
          </a:prstGeom>
          <a:solidFill>
            <a:srgbClr val="203442"/>
          </a:solidFill>
          <a:ln w="10160">
            <a:solidFill>
              <a:srgbClr val="36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4512564"/>
            <a:ext cx="207568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BEAF0"/>
                </a:solidFill>
                <a:latin typeface="Noto Sans"/>
              </a:defRPr>
            </a:pPr>
            <a:r>
              <a:t>Credibility tiers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0296" y="4498848"/>
            <a:ext cx="2112264" cy="283464"/>
          </a:xfrm>
          <a:prstGeom prst="roundRect">
            <a:avLst>
              <a:gd name="adj" fmla="val 12000"/>
            </a:avLst>
          </a:prstGeom>
          <a:solidFill>
            <a:srgbClr val="203442"/>
          </a:solidFill>
          <a:ln w="10160">
            <a:solidFill>
              <a:srgbClr val="36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6872" y="4512564"/>
            <a:ext cx="203911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BEAF0"/>
                </a:solidFill>
                <a:latin typeface="Noto Sans"/>
              </a:defRPr>
            </a:pPr>
            <a:r>
              <a:t>Pinned libraries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3144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21AFC1"/>
          </a:solidFill>
          <a:ln w="1016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B7C7D2"/>
                </a:solidFill>
                <a:latin typeface="Noto Sans"/>
              </a:defRPr>
            </a:pPr>
            <a:r>
              <a:t>RCP.2026/11  ·  PI REVIEW  · 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B7C7D2"/>
                </a:solidFill>
                <a:latin typeface="Noto San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21AFC1"/>
          </a:solidFill>
          <a:ln w="1016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1AFC1"/>
                </a:solidFill>
                <a:latin typeface="Noto Sans"/>
              </a:defRPr>
            </a:pPr>
            <a: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Why Modelica fits this research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It supplies an inspectable physical model beneath the language-model layer.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21AFC1"/>
          </a:solidFill>
          <a:ln w="1016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37360"/>
            <a:ext cx="3456432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37360"/>
            <a:ext cx="73152" cy="3200400"/>
          </a:xfrm>
          <a:prstGeom prst="rect">
            <a:avLst/>
          </a:prstGeom>
          <a:solidFill>
            <a:srgbClr val="21AFC1"/>
          </a:solidFill>
          <a:ln w="1016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956815"/>
            <a:ext cx="438912" cy="438912"/>
          </a:xfrm>
          <a:prstGeom prst="ellipse">
            <a:avLst/>
          </a:prstGeom>
          <a:solidFill>
            <a:srgbClr val="21AFC1"/>
          </a:solidFill>
          <a:ln w="1270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56815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1938528"/>
            <a:ext cx="2505455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Declarative physics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50591"/>
            <a:ext cx="2999232" cy="23225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5E7182"/>
                </a:solidFill>
                <a:latin typeface="Noto Sans"/>
              </a:defRPr>
            </a:pPr>
            <a:r>
              <a:t>Components describe equations and connections rather than a fixed procedural solver sequence. That is valuable for multi-domain thermal and fluid systems.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1737360"/>
            <a:ext cx="3456432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0832" y="1737360"/>
            <a:ext cx="73152" cy="3200400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90288" y="1956815"/>
            <a:ext cx="438912" cy="438912"/>
          </a:xfrm>
          <a:prstGeom prst="ellipse">
            <a:avLst/>
          </a:prstGeom>
          <a:solidFill>
            <a:srgbClr val="087F95"/>
          </a:solidFill>
          <a:ln w="1270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1956815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8928" y="1938528"/>
            <a:ext cx="250545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Composable 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2450591"/>
            <a:ext cx="2999232" cy="23225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5E7182"/>
                </a:solidFill>
                <a:latin typeface="Noto Sans"/>
              </a:defRPr>
            </a:pPr>
            <a:r>
              <a:t>Rooms, heat exchangers, pumps, chillers, controllers, weather, and sensors can be assembled while retaining their physical interfaces.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3296" y="1737360"/>
            <a:ext cx="3456432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83296" y="1737360"/>
            <a:ext cx="73152" cy="3200400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02752" y="1956815"/>
            <a:ext cx="438912" cy="438912"/>
          </a:xfrm>
          <a:prstGeom prst="ellipse">
            <a:avLst/>
          </a:prstGeom>
          <a:solidFill>
            <a:srgbClr val="6750A4"/>
          </a:solidFill>
          <a:ln w="1270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1956815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1392" y="1938528"/>
            <a:ext cx="250545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Reproducible execution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2450591"/>
            <a:ext cx="2999232" cy="23225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5E7182"/>
                </a:solidFill>
                <a:latin typeface="Noto Sans"/>
              </a:defRPr>
            </a:pPr>
            <a:r>
              <a:t>OpenModelica compiles each sealed specification inside a pinned image; outputs become files that can be fingerprinted and reanalyzed.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9848" y="5276088"/>
            <a:ext cx="10058400" cy="612648"/>
          </a:xfrm>
          <a:prstGeom prst="roundRect">
            <a:avLst>
              <a:gd name="adj" fmla="val 12000"/>
            </a:avLst>
          </a:prstGeom>
          <a:solidFill>
            <a:srgbClr val="FFF3DC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9304" y="5422392"/>
            <a:ext cx="9619488" cy="3383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C98212"/>
                </a:solidFill>
                <a:latin typeface="Noto Sans"/>
              </a:defRPr>
            </a:pPr>
            <a:r>
              <a:t>Modelica increases transparency of the model—but does not by itself validate the model against reality.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21AFC1"/>
          </a:solidFill>
          <a:ln w="1016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1AFC1"/>
                </a:solidFill>
                <a:latin typeface="Noto Sans"/>
              </a:defRPr>
            </a:pPr>
            <a: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The model registry carries credibility and operating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Models are not interchangeable; each exposes its own inputs, outputs, validation tier, and limitations.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21AFC1"/>
          </a:solidFill>
          <a:ln w="1016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6583680"/>
            <a:ext cx="708660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8393A0"/>
                </a:solidFill>
                <a:latin typeface="Noto Sans"/>
              </a:defRPr>
            </a:pPr>
            <a:r>
              <a:t>Source: src/rcp/models_library/registry.json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719072"/>
            <a:ext cx="3456432" cy="3401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19072"/>
            <a:ext cx="73152" cy="3401568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938528"/>
            <a:ext cx="438912" cy="438912"/>
          </a:xfrm>
          <a:prstGeom prst="ellipse">
            <a:avLst/>
          </a:prstGeom>
          <a:solidFill>
            <a:srgbClr val="C98212"/>
          </a:solidFill>
          <a:ln w="1270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938528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464" y="1920240"/>
            <a:ext cx="2505455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DataCenterRoom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432304"/>
            <a:ext cx="2999232" cy="2523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E7182"/>
                </a:solidFill>
                <a:latin typeface="Noto Sans"/>
              </a:defRPr>
            </a:pPr>
            <a:r>
              <a:t>Conceptual · v1.0.0</a:t>
            </a:r>
            <a:br/>
            <a:br/>
            <a:r>
              <a:t>Single-zone thermal balance with proportional cooling and constant COP. Fast enough for interactive hypothesis exploration.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1719072"/>
            <a:ext cx="3456432" cy="3401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0832" y="1719072"/>
            <a:ext cx="73152" cy="3401568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90288" y="1938528"/>
            <a:ext cx="438912" cy="438912"/>
          </a:xfrm>
          <a:prstGeom prst="ellipse">
            <a:avLst/>
          </a:prstGeom>
          <a:solidFill>
            <a:srgbClr val="087F95"/>
          </a:solidFill>
          <a:ln w="1270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1938528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1920240"/>
            <a:ext cx="250545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Non-integrated plant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2432304"/>
            <a:ext cx="2999232" cy="2523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E7182"/>
                </a:solidFill>
                <a:latin typeface="Noto Sans"/>
              </a:defRPr>
            </a:pPr>
            <a:r>
              <a:t>Library-validated · Buildings 13.0.0</a:t>
            </a:r>
            <a:br/>
            <a:br/>
            <a:r>
              <a:t>Pinned wrapper around the non-integrated primary-secondary waterside-economizer example. Baseline in the milestone study.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719072"/>
            <a:ext cx="3456432" cy="3401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83296" y="1719072"/>
            <a:ext cx="73152" cy="3401568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02752" y="1938528"/>
            <a:ext cx="438912" cy="438912"/>
          </a:xfrm>
          <a:prstGeom prst="ellipse">
            <a:avLst/>
          </a:prstGeom>
          <a:solidFill>
            <a:srgbClr val="6750A4"/>
          </a:solidFill>
          <a:ln w="1270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1938528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392" y="1920240"/>
            <a:ext cx="250545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Integrated plant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2432304"/>
            <a:ext cx="2999232" cy="2523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5E7182"/>
                </a:solidFill>
                <a:latin typeface="Noto Sans"/>
              </a:defRPr>
            </a:pPr>
            <a:r>
              <a:t>Library-validated · Buildings 13.0.0</a:t>
            </a:r>
            <a:br/>
            <a:br/>
            <a:r>
              <a:t>Pinned wrapper around the integrated primary-secondary waterside-economizer example. Candidate configuration.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80160" y="5394960"/>
            <a:ext cx="1572768" cy="283464"/>
          </a:xfrm>
          <a:prstGeom prst="roundRect">
            <a:avLst>
              <a:gd name="adj" fmla="val 12000"/>
            </a:avLst>
          </a:prstGeom>
          <a:solidFill>
            <a:srgbClr val="FFF3DC"/>
          </a:solidFill>
          <a:ln w="10160">
            <a:solidFill>
              <a:srgbClr val="FF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16736" y="5408676"/>
            <a:ext cx="1499616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98212"/>
                </a:solidFill>
                <a:latin typeface="Noto Sans"/>
              </a:defRPr>
            </a:pPr>
            <a:r>
              <a:t>EXPLORATORY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92624" y="5394960"/>
            <a:ext cx="1993392" cy="283464"/>
          </a:xfrm>
          <a:prstGeom prst="roundRect">
            <a:avLst>
              <a:gd name="adj" fmla="val 12000"/>
            </a:avLst>
          </a:prstGeom>
          <a:solidFill>
            <a:srgbClr val="DDF4F7"/>
          </a:solidFill>
          <a:ln w="10160">
            <a:solidFill>
              <a:srgbClr val="DD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5408676"/>
            <a:ext cx="1920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87F95"/>
                </a:solidFill>
                <a:latin typeface="Noto Sans"/>
              </a:defRPr>
            </a:pPr>
            <a:r>
              <a:t>LIBRARY REGRESSION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05088" y="5394960"/>
            <a:ext cx="1993392" cy="283464"/>
          </a:xfrm>
          <a:prstGeom prst="roundRect">
            <a:avLst>
              <a:gd name="adj" fmla="val 12000"/>
            </a:avLst>
          </a:prstGeom>
          <a:solidFill>
            <a:srgbClr val="EEE9FA"/>
          </a:solidFill>
          <a:ln w="10160">
            <a:solidFill>
              <a:srgbClr val="EE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41663" y="5408676"/>
            <a:ext cx="1920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750A4"/>
                </a:solidFill>
                <a:latin typeface="Noto Sans"/>
              </a:defRPr>
            </a:pPr>
            <a:r>
              <a:t>LIBRARY REGRESSION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21AFC1"/>
          </a:solidFill>
          <a:ln w="1016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1AFC1"/>
                </a:solidFill>
                <a:latin typeface="Noto Sans"/>
              </a:defRPr>
            </a:pPr>
            <a: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DataCenterRoom is a transparent conceptual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Its value is speed and interpretability—not facility-level fidelity.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21AFC1"/>
          </a:solidFill>
          <a:ln w="1016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6583680"/>
            <a:ext cx="708660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8393A0"/>
                </a:solidFill>
                <a:latin typeface="Noto Sans"/>
              </a:defRPr>
            </a:pPr>
            <a:r>
              <a:t>Source: DataCenterRoom.mo and model validation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709928"/>
            <a:ext cx="5001768" cy="3493008"/>
          </a:xfrm>
          <a:prstGeom prst="roundRect">
            <a:avLst>
              <a:gd name="adj" fmla="val 12000"/>
            </a:avLst>
          </a:prstGeom>
          <a:solidFill>
            <a:srgbClr val="162231"/>
          </a:solidFill>
          <a:ln w="10160">
            <a:solidFill>
              <a:srgbClr val="16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84248"/>
            <a:ext cx="43891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21AFC1"/>
                </a:solidFill>
                <a:latin typeface="Noto Sans"/>
              </a:defRPr>
            </a:pPr>
            <a:r>
              <a:t>ROOM ENERGY 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40740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DejaVu Sans"/>
              </a:defRPr>
            </a:pPr>
            <a:r>
              <a:t>C · dT/dt  =  QIT  +  UA(Tamb − T)  −  Qcool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429000"/>
            <a:ext cx="43891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6D6DF"/>
                </a:solidFill>
                <a:latin typeface="DejaVu Sans"/>
              </a:defRPr>
            </a:pPr>
            <a:r>
              <a:t>Qcool = clamp[kp(T − Tset), 0, Qmax]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42232"/>
            <a:ext cx="43891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6D6DF"/>
                </a:solidFill>
                <a:latin typeface="DejaVu Sans"/>
              </a:defRPr>
            </a:pPr>
            <a:r>
              <a:t>Pcool = Qcool / COP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681728"/>
            <a:ext cx="1691640" cy="283464"/>
          </a:xfrm>
          <a:prstGeom prst="roundRect">
            <a:avLst>
              <a:gd name="adj" fmla="val 12000"/>
            </a:avLst>
          </a:prstGeom>
          <a:solidFill>
            <a:srgbClr val="203442"/>
          </a:solidFill>
          <a:ln w="10160">
            <a:solidFill>
              <a:srgbClr val="36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" y="4695444"/>
            <a:ext cx="161848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1AFC1"/>
                </a:solidFill>
                <a:latin typeface="Noto Sans"/>
              </a:defRPr>
            </a:pPr>
            <a:r>
              <a:t>8 bounded parameters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6752" y="1719072"/>
            <a:ext cx="256032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16752" y="1719072"/>
            <a:ext cx="2560320" cy="54864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929384"/>
            <a:ext cx="2157984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87F95"/>
                </a:solidFill>
                <a:latin typeface="Noto Sans"/>
              </a:defRPr>
            </a:pPr>
            <a:r>
              <a:t>0 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468879"/>
            <a:ext cx="2157984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energy-balance residual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51392" y="1719072"/>
            <a:ext cx="256032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51392" y="1719072"/>
            <a:ext cx="2560320" cy="54864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1929384"/>
            <a:ext cx="2157984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750A4"/>
                </a:solidFill>
                <a:latin typeface="Noto Sans"/>
              </a:defRPr>
            </a:pPr>
            <a:r>
              <a:t>26.818 °C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468879"/>
            <a:ext cx="2157984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analytic equilibrium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16752" y="2916936"/>
            <a:ext cx="256032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16752" y="2916936"/>
            <a:ext cx="2560320" cy="54864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127248"/>
            <a:ext cx="2157984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87F95"/>
                </a:solidFill>
                <a:latin typeface="Noto Sans"/>
              </a:defRPr>
            </a:pPr>
            <a:r>
              <a:t>100 °C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666744"/>
            <a:ext cx="2157984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saturation branch equilibrium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51392" y="2916936"/>
            <a:ext cx="256032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51392" y="2916936"/>
            <a:ext cx="2560320" cy="54864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3127248"/>
            <a:ext cx="2157984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750A4"/>
                </a:solidFill>
                <a:latin typeface="Noto Sans"/>
              </a:defRPr>
            </a:pPr>
            <a:r>
              <a:t>bitwise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3666744"/>
            <a:ext cx="2157984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repeatability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16752" y="4114800"/>
            <a:ext cx="256032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16752" y="4114800"/>
            <a:ext cx="2560320" cy="54864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4325112"/>
            <a:ext cx="2157984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87F95"/>
                </a:solidFill>
                <a:latin typeface="Noto Sans"/>
              </a:defRPr>
            </a:pPr>
            <a:r>
              <a:t>passed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864608"/>
            <a:ext cx="2157984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unit consistency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51392" y="4114800"/>
            <a:ext cx="256032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51392" y="4114800"/>
            <a:ext cx="2560320" cy="54864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0" y="4325112"/>
            <a:ext cx="2157984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750A4"/>
                </a:solidFill>
                <a:latin typeface="Noto Sans"/>
              </a:defRPr>
            </a:pPr>
            <a:r>
              <a:t>directional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4864608"/>
            <a:ext cx="2157984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load/capacity sensitivity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16752" y="5404104"/>
            <a:ext cx="5394960" cy="566928"/>
          </a:xfrm>
          <a:prstGeom prst="roundRect">
            <a:avLst>
              <a:gd name="adj" fmla="val 12000"/>
            </a:avLst>
          </a:prstGeom>
          <a:solidFill>
            <a:srgbClr val="FFF3DC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36208" y="5550408"/>
            <a:ext cx="495604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C98212"/>
                </a:solidFill>
                <a:latin typeface="Noto Sans"/>
              </a:defRPr>
            </a:pPr>
            <a:r>
              <a:t>Omitted: spatial hot spots, humidity, airflow network, equipment transients, sensor uncertainty, and calibration data.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21AFC1"/>
          </a:solidFill>
          <a:ln w="1016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1AFC1"/>
                </a:solidFill>
                <a:latin typeface="Noto Sans"/>
              </a:defRPr>
            </a:pPr>
            <a: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The milestone benchmark compares two Buildings library configurations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Both share the same room load, weather profile, outputs, horizon, and chilled-water setpoint.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21AFC1"/>
          </a:solidFill>
          <a:ln w="1016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37360"/>
            <a:ext cx="5157216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011680"/>
            <a:ext cx="4480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87F95"/>
                </a:solidFill>
                <a:latin typeface="Noto Sans"/>
              </a:defRPr>
            </a:pPr>
            <a:r>
              <a:t>NON-INTEGRATED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404872"/>
            <a:ext cx="444398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62231"/>
                </a:solidFill>
                <a:latin typeface="Noto Sans"/>
              </a:defRPr>
            </a:pPr>
            <a:r>
              <a:t>Primary–secondary plant with waterside economizer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337560"/>
            <a:ext cx="1078992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3483864"/>
            <a:ext cx="74980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3822191"/>
            <a:ext cx="786383" cy="1554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400–600 kW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50592" y="3337560"/>
            <a:ext cx="1078992" cy="749808"/>
          </a:xfrm>
          <a:prstGeom prst="roundRect">
            <a:avLst>
              <a:gd name="adj" fmla="val 12000"/>
            </a:avLst>
          </a:prstGeom>
          <a:solidFill>
            <a:srgbClr val="087F95"/>
          </a:solidFill>
          <a:ln w="1524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15184" y="3483864"/>
            <a:ext cx="74980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FFFF"/>
                </a:solidFill>
                <a:latin typeface="Noto Sans"/>
              </a:defRPr>
            </a:pPr>
            <a:r>
              <a:t>Plant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3822191"/>
            <a:ext cx="786383" cy="1554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E4EFF3"/>
                </a:solidFill>
                <a:latin typeface="Noto Sans"/>
              </a:defRPr>
            </a:pPr>
            <a:r>
              <a:t>baseline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41063" y="3337560"/>
            <a:ext cx="1078992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05655" y="3483864"/>
            <a:ext cx="74980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87368" y="3822191"/>
            <a:ext cx="786383" cy="1554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return air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039112" y="3712463"/>
            <a:ext cx="411480" cy="0"/>
          </a:xfrm>
          <a:prstGeom prst="line">
            <a:avLst/>
          </a:prstGeom>
          <a:ln w="17780">
            <a:solidFill>
              <a:srgbClr val="087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529584" y="3712463"/>
            <a:ext cx="411479" cy="0"/>
          </a:xfrm>
          <a:prstGeom prst="line">
            <a:avLst/>
          </a:prstGeom>
          <a:ln w="17780">
            <a:solidFill>
              <a:srgbClr val="087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9264" y="4517136"/>
            <a:ext cx="438912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Separate non-integrated economizer arrangement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64224" y="1737360"/>
            <a:ext cx="5157216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011680"/>
            <a:ext cx="4480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750A4"/>
                </a:solidFill>
                <a:latin typeface="Noto Sans"/>
              </a:defRPr>
            </a:pPr>
            <a:r>
              <a:t>INTEGRATED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404872"/>
            <a:ext cx="4443984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62231"/>
                </a:solidFill>
                <a:latin typeface="Noto Sans"/>
              </a:defRPr>
            </a:pPr>
            <a:r>
              <a:t>Primary–secondary plant with integrated economizer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5976" y="3337560"/>
            <a:ext cx="1078992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0568" y="3483864"/>
            <a:ext cx="74980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822191"/>
            <a:ext cx="786383" cy="1554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400–600 kW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56448" y="3337560"/>
            <a:ext cx="1078992" cy="749808"/>
          </a:xfrm>
          <a:prstGeom prst="roundRect">
            <a:avLst>
              <a:gd name="adj" fmla="val 12000"/>
            </a:avLst>
          </a:prstGeom>
          <a:solidFill>
            <a:srgbClr val="6750A4"/>
          </a:solidFill>
          <a:ln w="1524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483864"/>
            <a:ext cx="74980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FFFF"/>
                </a:solidFill>
                <a:latin typeface="Noto Sans"/>
              </a:defRPr>
            </a:pPr>
            <a:r>
              <a:t>Plant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3822191"/>
            <a:ext cx="786383" cy="1554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E4EFF3"/>
                </a:solidFill>
                <a:latin typeface="Noto Sans"/>
              </a:defRPr>
            </a:pPr>
            <a:r>
              <a:t>candidate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46920" y="3337560"/>
            <a:ext cx="1078992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11512" y="3483864"/>
            <a:ext cx="74980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Room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93224" y="3822191"/>
            <a:ext cx="786383" cy="1554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return air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744968" y="3712463"/>
            <a:ext cx="411480" cy="0"/>
          </a:xfrm>
          <a:prstGeom prst="line">
            <a:avLst/>
          </a:prstGeom>
          <a:ln w="17780">
            <a:solidFill>
              <a:srgbClr val="6750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235440" y="3712463"/>
            <a:ext cx="411480" cy="0"/>
          </a:xfrm>
          <a:prstGeom prst="line">
            <a:avLst/>
          </a:prstGeom>
          <a:ln w="17780">
            <a:solidFill>
              <a:srgbClr val="6750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675120" y="4517136"/>
            <a:ext cx="438912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Economizer integrated into the chilled-water path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4128" y="5559552"/>
            <a:ext cx="10149840" cy="502920"/>
          </a:xfrm>
          <a:prstGeom prst="roundRect">
            <a:avLst>
              <a:gd name="adj" fmla="val 12000"/>
            </a:avLst>
          </a:prstGeom>
          <a:solidFill>
            <a:srgbClr val="FFF3DC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43584" y="5705856"/>
            <a:ext cx="971092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C98212"/>
                </a:solidFill>
                <a:latin typeface="Noto Sans"/>
              </a:defRPr>
            </a:pPr>
            <a:r>
              <a:t>Validation tier: agreement with pinned upstream library behavior—not calibration against a physical data center.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21AFC1"/>
          </a:solidFill>
          <a:ln w="1016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1AFC1"/>
                </a:solidFill>
                <a:latin typeface="Noto Sans"/>
              </a:defRPr>
            </a:pPr>
            <a: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A simulation is only reproducible if its environment is named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The manifest records exact solver, libraries, image, models, inputs, code state, and artifacts.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21AFC1"/>
          </a:solidFill>
          <a:ln w="1016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6583680"/>
            <a:ext cx="708660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8393A0"/>
                </a:solidFill>
                <a:latin typeface="Noto Sans"/>
              </a:defRPr>
            </a:pPr>
            <a:r>
              <a:t>Source: data/runs/benchmark-bc0522c9/manifest.json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719072"/>
            <a:ext cx="5175504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901952"/>
            <a:ext cx="34290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1">
                <a:solidFill>
                  <a:srgbClr val="087F95"/>
                </a:solidFill>
                <a:latin typeface="Noto Sans"/>
              </a:defRPr>
            </a:pPr>
            <a:r>
              <a:t>OPENMODELICA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276856"/>
            <a:ext cx="462686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162231"/>
                </a:solidFill>
                <a:latin typeface="Liberation Mono"/>
              </a:defRPr>
            </a:pPr>
            <a:r>
              <a:t>1.26.3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7" y="1719072"/>
            <a:ext cx="5175504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1901952"/>
            <a:ext cx="34290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1">
                <a:solidFill>
                  <a:srgbClr val="6750A4"/>
                </a:solidFill>
                <a:latin typeface="Noto Sans"/>
              </a:defRPr>
            </a:pPr>
            <a:r>
              <a:t>MODELICA STANDARD LIBRARY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276856"/>
            <a:ext cx="462686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162231"/>
                </a:solidFill>
                <a:latin typeface="Liberation Mono"/>
              </a:defRPr>
            </a:pPr>
            <a:r>
              <a:t>4.1.0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136391"/>
            <a:ext cx="5175504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319272"/>
            <a:ext cx="34290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1">
                <a:solidFill>
                  <a:srgbClr val="21AFC1"/>
                </a:solidFill>
                <a:latin typeface="Noto Sans"/>
              </a:defRPr>
            </a:pPr>
            <a:r>
              <a:t>BUILDINGS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694176"/>
            <a:ext cx="462686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162231"/>
                </a:solidFill>
                <a:latin typeface="Liberation Mono"/>
              </a:defRPr>
            </a:pPr>
            <a:r>
              <a:t>13.0.0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7" y="3136391"/>
            <a:ext cx="5175504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3319272"/>
            <a:ext cx="34290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1">
                <a:solidFill>
                  <a:srgbClr val="C98212"/>
                </a:solidFill>
                <a:latin typeface="Noto Sans"/>
              </a:defRPr>
            </a:pPr>
            <a:r>
              <a:t>RUNTIME IMAGE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3694176"/>
            <a:ext cx="462686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162231"/>
                </a:solidFill>
                <a:latin typeface="Liberation Mono"/>
              </a:defRPr>
            </a:pPr>
            <a:r>
              <a:t>rcp-openmodelica-buildings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764024"/>
            <a:ext cx="10451592" cy="694944"/>
          </a:xfrm>
          <a:prstGeom prst="roundRect">
            <a:avLst>
              <a:gd name="adj" fmla="val 12000"/>
            </a:avLst>
          </a:prstGeom>
          <a:solidFill>
            <a:srgbClr val="DDF4F7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" y="4910328"/>
            <a:ext cx="1001268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87F95"/>
                </a:solidFill>
                <a:latin typeface="Noto Sans"/>
              </a:defRPr>
            </a:pPr>
            <a:r>
              <a:t>Reproducibility manifest also records the repository revision and dirty state—because uncommitted code is part of the environment.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2456" y="5696712"/>
            <a:ext cx="95097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2231"/>
                </a:solidFill>
                <a:latin typeface="Noto Sans"/>
              </a:defRPr>
            </a:pPr>
            <a:r>
              <a:t>Artifacts are exported as a ZIP with SHA-256 fingerprints and byte counts.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82296" cy="420624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603504"/>
            <a:ext cx="2743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C98212"/>
                </a:solidFill>
                <a:latin typeface="Noto Sans"/>
              </a:defRPr>
            </a:pPr>
            <a:r>
              <a:t>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81912"/>
            <a:ext cx="1060704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Noto Sans"/>
              </a:defRPr>
            </a:pPr>
            <a:r>
              <a:t>A preregistered 18-case Modelica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496312"/>
            <a:ext cx="987552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C6D6DF"/>
                </a:solidFill>
                <a:latin typeface="Noto Sans"/>
              </a:defRPr>
            </a:pPr>
            <a:r>
              <a:t>The study asks whether integrating a primary–secondary waterside economizer improves energy or thermal performance across load and chilled-water setpoint.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6656" y="4160520"/>
            <a:ext cx="10204704" cy="0"/>
          </a:xfrm>
          <a:prstGeom prst="line">
            <a:avLst/>
          </a:prstGeom>
          <a:ln w="12700">
            <a:solidFill>
              <a:srgbClr val="4053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76656" y="4498848"/>
            <a:ext cx="1307592" cy="283464"/>
          </a:xfrm>
          <a:prstGeom prst="roundRect">
            <a:avLst>
              <a:gd name="adj" fmla="val 12000"/>
            </a:avLst>
          </a:prstGeom>
          <a:solidFill>
            <a:srgbClr val="203442"/>
          </a:solidFill>
          <a:ln w="10160">
            <a:solidFill>
              <a:srgbClr val="36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512564"/>
            <a:ext cx="12344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BEAF0"/>
                </a:solidFill>
                <a:latin typeface="Noto Sans"/>
              </a:defRPr>
            </a:pPr>
            <a:r>
              <a:t>18 cases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4498848"/>
            <a:ext cx="2011680" cy="283464"/>
          </a:xfrm>
          <a:prstGeom prst="roundRect">
            <a:avLst>
              <a:gd name="adj" fmla="val 12000"/>
            </a:avLst>
          </a:prstGeom>
          <a:solidFill>
            <a:srgbClr val="203442"/>
          </a:solidFill>
          <a:ln w="10160">
            <a:solidFill>
              <a:srgbClr val="36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85416" y="4512564"/>
            <a:ext cx="193852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BEAF0"/>
                </a:solidFill>
                <a:latin typeface="Noto Sans"/>
              </a:defRPr>
            </a:pPr>
            <a:r>
              <a:t>9 matched pairs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4498848"/>
            <a:ext cx="1408176" cy="283464"/>
          </a:xfrm>
          <a:prstGeom prst="roundRect">
            <a:avLst>
              <a:gd name="adj" fmla="val 12000"/>
            </a:avLst>
          </a:prstGeom>
          <a:solidFill>
            <a:srgbClr val="203442"/>
          </a:solidFill>
          <a:ln w="10160">
            <a:solidFill>
              <a:srgbClr val="36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4512564"/>
            <a:ext cx="133502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BEAF0"/>
                </a:solidFill>
                <a:latin typeface="Noto Sans"/>
              </a:defRPr>
            </a:pPr>
            <a:r>
              <a:t>24 h each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4498848"/>
            <a:ext cx="2148840" cy="283464"/>
          </a:xfrm>
          <a:prstGeom prst="roundRect">
            <a:avLst>
              <a:gd name="adj" fmla="val 12000"/>
            </a:avLst>
          </a:prstGeom>
          <a:solidFill>
            <a:srgbClr val="203442"/>
          </a:solidFill>
          <a:ln w="10160">
            <a:solidFill>
              <a:srgbClr val="36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34456" y="4512564"/>
            <a:ext cx="207568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BEAF0"/>
                </a:solidFill>
                <a:latin typeface="Noto Sans"/>
              </a:defRPr>
            </a:pPr>
            <a:r>
              <a:t>8 primary metrics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3144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B7C7D2"/>
                </a:solidFill>
                <a:latin typeface="Noto Sans"/>
              </a:defRPr>
            </a:pPr>
            <a:r>
              <a:t>RCP.2026/11  ·  PI REVIEW  · 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B7C7D2"/>
                </a:solidFill>
                <a:latin typeface="Noto San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C98212"/>
                </a:solidFill>
                <a:latin typeface="Noto Sans"/>
              </a:defRPr>
            </a:pPr>
            <a:r>
              <a:t>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The design is a complete 3 × 3 matched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Every operating point runs the non-integrated baseline and integrated candidate under identical declared conditions.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6583680"/>
            <a:ext cx="708660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8393A0"/>
                </a:solidFill>
                <a:latin typeface="Noto Sans"/>
              </a:defRPr>
            </a:pPr>
            <a:r>
              <a:t>Source: benchmark_plan() in src/rcp/simulation/batch.py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1417320"/>
            <a:ext cx="1892807" cy="384048"/>
          </a:xfrm>
          <a:prstGeom prst="roundRect">
            <a:avLst>
              <a:gd name="adj" fmla="val 12000"/>
            </a:avLst>
          </a:prstGeom>
          <a:solidFill>
            <a:srgbClr val="162231"/>
          </a:solidFill>
          <a:ln w="10160">
            <a:solidFill>
              <a:srgbClr val="16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1444752"/>
            <a:ext cx="1892807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Noto Sans"/>
              </a:defRPr>
            </a:pPr>
            <a:r>
              <a:t>6 °C CHW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1417320"/>
            <a:ext cx="1892807" cy="384048"/>
          </a:xfrm>
          <a:prstGeom prst="roundRect">
            <a:avLst>
              <a:gd name="adj" fmla="val 12000"/>
            </a:avLst>
          </a:prstGeom>
          <a:solidFill>
            <a:srgbClr val="162231"/>
          </a:solidFill>
          <a:ln w="10160">
            <a:solidFill>
              <a:srgbClr val="16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1444752"/>
            <a:ext cx="1892807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Noto Sans"/>
              </a:defRPr>
            </a:pPr>
            <a:r>
              <a:t>8 °C CHW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417320"/>
            <a:ext cx="1892807" cy="384048"/>
          </a:xfrm>
          <a:prstGeom prst="roundRect">
            <a:avLst>
              <a:gd name="adj" fmla="val 12000"/>
            </a:avLst>
          </a:prstGeom>
          <a:solidFill>
            <a:srgbClr val="162231"/>
          </a:solidFill>
          <a:ln w="10160">
            <a:solidFill>
              <a:srgbClr val="16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1444752"/>
            <a:ext cx="1892807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Noto Sans"/>
              </a:defRPr>
            </a:pPr>
            <a:r>
              <a:t>10 °C CHW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1847088"/>
            <a:ext cx="1188720" cy="914400"/>
          </a:xfrm>
          <a:prstGeom prst="roundRect">
            <a:avLst>
              <a:gd name="adj" fmla="val 12000"/>
            </a:avLst>
          </a:prstGeom>
          <a:solidFill>
            <a:srgbClr val="EDF2F5"/>
          </a:solidFill>
          <a:ln w="10160">
            <a:solidFill>
              <a:srgbClr val="ED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1847088"/>
            <a:ext cx="1188720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2231"/>
                </a:solidFill>
                <a:latin typeface="Noto Sans"/>
              </a:defRPr>
            </a:pPr>
            <a:r>
              <a:t>400 kW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57400" y="1847088"/>
            <a:ext cx="1892807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95144" y="2103120"/>
            <a:ext cx="493776" cy="283464"/>
          </a:xfrm>
          <a:prstGeom prst="roundRect">
            <a:avLst>
              <a:gd name="adj" fmla="val 12000"/>
            </a:avLst>
          </a:prstGeom>
          <a:solidFill>
            <a:srgbClr val="DDF4F7"/>
          </a:solidFill>
          <a:ln w="10160">
            <a:solidFill>
              <a:srgbClr val="DD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31720" y="2116836"/>
            <a:ext cx="42062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87F95"/>
                </a:solidFill>
                <a:latin typeface="Noto Sans"/>
              </a:defRPr>
            </a:pPr>
            <a:r>
              <a:t>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2112264"/>
            <a:ext cx="2560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393A0"/>
                </a:solidFill>
                <a:latin typeface="Noto Sans"/>
              </a:defRPr>
            </a:pPr>
            <a:r>
              <a:t>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27832" y="2103120"/>
            <a:ext cx="493776" cy="283464"/>
          </a:xfrm>
          <a:prstGeom prst="roundRect">
            <a:avLst>
              <a:gd name="adj" fmla="val 12000"/>
            </a:avLst>
          </a:prstGeom>
          <a:solidFill>
            <a:srgbClr val="EEE9FA"/>
          </a:solidFill>
          <a:ln w="10160">
            <a:solidFill>
              <a:srgbClr val="EE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64408" y="2116836"/>
            <a:ext cx="42062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750A4"/>
                </a:solidFill>
                <a:latin typeface="Noto Sans"/>
              </a:defRPr>
            </a:pPr>
            <a:r>
              <a:t>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23360" y="1847088"/>
            <a:ext cx="1892807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61104" y="2103120"/>
            <a:ext cx="493776" cy="283464"/>
          </a:xfrm>
          <a:prstGeom prst="roundRect">
            <a:avLst>
              <a:gd name="adj" fmla="val 12000"/>
            </a:avLst>
          </a:prstGeom>
          <a:solidFill>
            <a:srgbClr val="DDF4F7"/>
          </a:solidFill>
          <a:ln w="10160">
            <a:solidFill>
              <a:srgbClr val="DD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2116836"/>
            <a:ext cx="42062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87F95"/>
                </a:solidFill>
                <a:latin typeface="Noto Sans"/>
              </a:defRPr>
            </a:pPr>
            <a:r>
              <a:t>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2112264"/>
            <a:ext cx="2560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393A0"/>
                </a:solidFill>
                <a:latin typeface="Noto Sans"/>
              </a:defRPr>
            </a:pPr>
            <a:r>
              <a:t>vs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93792" y="2103120"/>
            <a:ext cx="493776" cy="283464"/>
          </a:xfrm>
          <a:prstGeom prst="roundRect">
            <a:avLst>
              <a:gd name="adj" fmla="val 12000"/>
            </a:avLst>
          </a:prstGeom>
          <a:solidFill>
            <a:srgbClr val="EEE9FA"/>
          </a:solidFill>
          <a:ln w="10160">
            <a:solidFill>
              <a:srgbClr val="EE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30368" y="2116836"/>
            <a:ext cx="42062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750A4"/>
                </a:solidFill>
                <a:latin typeface="Noto Sans"/>
              </a:defRPr>
            </a:pPr>
            <a:r>
              <a:t>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1847088"/>
            <a:ext cx="1892807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27064" y="2103120"/>
            <a:ext cx="493776" cy="283464"/>
          </a:xfrm>
          <a:prstGeom prst="roundRect">
            <a:avLst>
              <a:gd name="adj" fmla="val 12000"/>
            </a:avLst>
          </a:prstGeom>
          <a:solidFill>
            <a:srgbClr val="DDF4F7"/>
          </a:solidFill>
          <a:ln w="10160">
            <a:solidFill>
              <a:srgbClr val="DD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116836"/>
            <a:ext cx="42062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87F95"/>
                </a:solidFill>
                <a:latin typeface="Noto Sans"/>
              </a:defRPr>
            </a:pPr>
            <a:r>
              <a:t>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112264"/>
            <a:ext cx="2560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393A0"/>
                </a:solidFill>
                <a:latin typeface="Noto Sans"/>
              </a:defRPr>
            </a:pPr>
            <a:r>
              <a:t>vs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59752" y="2103120"/>
            <a:ext cx="493776" cy="283464"/>
          </a:xfrm>
          <a:prstGeom prst="roundRect">
            <a:avLst>
              <a:gd name="adj" fmla="val 12000"/>
            </a:avLst>
          </a:prstGeom>
          <a:solidFill>
            <a:srgbClr val="EEE9FA"/>
          </a:solidFill>
          <a:ln w="10160">
            <a:solidFill>
              <a:srgbClr val="EE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96328" y="2116836"/>
            <a:ext cx="42062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750A4"/>
                </a:solidFill>
                <a:latin typeface="Noto Sans"/>
              </a:defRPr>
            </a:pPr>
            <a:r>
              <a:t>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2834640"/>
            <a:ext cx="1188720" cy="914400"/>
          </a:xfrm>
          <a:prstGeom prst="roundRect">
            <a:avLst>
              <a:gd name="adj" fmla="val 12000"/>
            </a:avLst>
          </a:prstGeom>
          <a:solidFill>
            <a:srgbClr val="EDF2F5"/>
          </a:solidFill>
          <a:ln w="10160">
            <a:solidFill>
              <a:srgbClr val="ED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2834640"/>
            <a:ext cx="1188720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2231"/>
                </a:solidFill>
                <a:latin typeface="Noto Sans"/>
              </a:defRPr>
            </a:pPr>
            <a:r>
              <a:t>500 kW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57400" y="2834640"/>
            <a:ext cx="1892807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295144" y="3090672"/>
            <a:ext cx="493776" cy="283464"/>
          </a:xfrm>
          <a:prstGeom prst="roundRect">
            <a:avLst>
              <a:gd name="adj" fmla="val 12000"/>
            </a:avLst>
          </a:prstGeom>
          <a:solidFill>
            <a:srgbClr val="DDF4F7"/>
          </a:solidFill>
          <a:ln w="10160">
            <a:solidFill>
              <a:srgbClr val="DD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31720" y="3104388"/>
            <a:ext cx="42062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87F95"/>
                </a:solidFill>
                <a:latin typeface="Noto Sans"/>
              </a:defRPr>
            </a:pPr>
            <a:r>
              <a:t>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0360" y="3099816"/>
            <a:ext cx="2560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393A0"/>
                </a:solidFill>
                <a:latin typeface="Noto Sans"/>
              </a:defRPr>
            </a:pPr>
            <a:r>
              <a:t>vs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27832" y="3090672"/>
            <a:ext cx="493776" cy="283464"/>
          </a:xfrm>
          <a:prstGeom prst="roundRect">
            <a:avLst>
              <a:gd name="adj" fmla="val 12000"/>
            </a:avLst>
          </a:prstGeom>
          <a:solidFill>
            <a:srgbClr val="EEE9FA"/>
          </a:solidFill>
          <a:ln w="10160">
            <a:solidFill>
              <a:srgbClr val="EE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64408" y="3104388"/>
            <a:ext cx="42062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750A4"/>
                </a:solidFill>
                <a:latin typeface="Noto Sans"/>
              </a:defRPr>
            </a:pPr>
            <a:r>
              <a:t>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023360" y="2834640"/>
            <a:ext cx="1892807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261104" y="3090672"/>
            <a:ext cx="493776" cy="283464"/>
          </a:xfrm>
          <a:prstGeom prst="roundRect">
            <a:avLst>
              <a:gd name="adj" fmla="val 12000"/>
            </a:avLst>
          </a:prstGeom>
          <a:solidFill>
            <a:srgbClr val="DDF4F7"/>
          </a:solidFill>
          <a:ln w="10160">
            <a:solidFill>
              <a:srgbClr val="DD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97680" y="3104388"/>
            <a:ext cx="42062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87F95"/>
                </a:solidFill>
                <a:latin typeface="Noto Sans"/>
              </a:defRPr>
            </a:pPr>
            <a:r>
              <a:t>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0" y="3099816"/>
            <a:ext cx="2560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393A0"/>
                </a:solidFill>
                <a:latin typeface="Noto Sans"/>
              </a:defRPr>
            </a:pPr>
            <a:r>
              <a:t>vs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93792" y="3090672"/>
            <a:ext cx="493776" cy="283464"/>
          </a:xfrm>
          <a:prstGeom prst="roundRect">
            <a:avLst>
              <a:gd name="adj" fmla="val 12000"/>
            </a:avLst>
          </a:prstGeom>
          <a:solidFill>
            <a:srgbClr val="EEE9FA"/>
          </a:solidFill>
          <a:ln w="10160">
            <a:solidFill>
              <a:srgbClr val="EE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30368" y="3104388"/>
            <a:ext cx="42062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750A4"/>
                </a:solidFill>
                <a:latin typeface="Noto Sans"/>
              </a:defRPr>
            </a:pPr>
            <a:r>
              <a:t>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89320" y="2834640"/>
            <a:ext cx="1892807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227064" y="3090672"/>
            <a:ext cx="493776" cy="283464"/>
          </a:xfrm>
          <a:prstGeom prst="roundRect">
            <a:avLst>
              <a:gd name="adj" fmla="val 12000"/>
            </a:avLst>
          </a:prstGeom>
          <a:solidFill>
            <a:srgbClr val="DDF4F7"/>
          </a:solidFill>
          <a:ln w="10160">
            <a:solidFill>
              <a:srgbClr val="DD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63640" y="3104388"/>
            <a:ext cx="42062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87F95"/>
                </a:solidFill>
                <a:latin typeface="Noto Sans"/>
              </a:defRPr>
            </a:pPr>
            <a:r>
              <a:t>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2280" y="3099816"/>
            <a:ext cx="2560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393A0"/>
                </a:solidFill>
                <a:latin typeface="Noto Sans"/>
              </a:defRPr>
            </a:pPr>
            <a:r>
              <a:t>vs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59752" y="3090672"/>
            <a:ext cx="493776" cy="283464"/>
          </a:xfrm>
          <a:prstGeom prst="roundRect">
            <a:avLst>
              <a:gd name="adj" fmla="val 12000"/>
            </a:avLst>
          </a:prstGeom>
          <a:solidFill>
            <a:srgbClr val="EEE9FA"/>
          </a:solidFill>
          <a:ln w="10160">
            <a:solidFill>
              <a:srgbClr val="EE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96328" y="3104388"/>
            <a:ext cx="42062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750A4"/>
                </a:solidFill>
                <a:latin typeface="Noto Sans"/>
              </a:defRPr>
            </a:pPr>
            <a:r>
              <a:t>I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8368" y="3822191"/>
            <a:ext cx="1188720" cy="914400"/>
          </a:xfrm>
          <a:prstGeom prst="roundRect">
            <a:avLst>
              <a:gd name="adj" fmla="val 12000"/>
            </a:avLst>
          </a:prstGeom>
          <a:solidFill>
            <a:srgbClr val="EDF2F5"/>
          </a:solidFill>
          <a:ln w="10160">
            <a:solidFill>
              <a:srgbClr val="ED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3822191"/>
            <a:ext cx="1188720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2231"/>
                </a:solidFill>
                <a:latin typeface="Noto Sans"/>
              </a:defRPr>
            </a:pPr>
            <a:r>
              <a:t>600 kW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057400" y="3822191"/>
            <a:ext cx="1892807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2295144" y="4078224"/>
            <a:ext cx="493776" cy="283464"/>
          </a:xfrm>
          <a:prstGeom prst="roundRect">
            <a:avLst>
              <a:gd name="adj" fmla="val 12000"/>
            </a:avLst>
          </a:prstGeom>
          <a:solidFill>
            <a:srgbClr val="DDF4F7"/>
          </a:solidFill>
          <a:ln w="10160">
            <a:solidFill>
              <a:srgbClr val="DD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31720" y="4091939"/>
            <a:ext cx="42062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87F95"/>
                </a:solidFill>
                <a:latin typeface="Noto Sans"/>
              </a:defRPr>
            </a:pPr>
            <a:r>
              <a:t>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80360" y="4087368"/>
            <a:ext cx="2560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393A0"/>
                </a:solidFill>
                <a:latin typeface="Noto Sans"/>
              </a:defRPr>
            </a:pPr>
            <a:r>
              <a:t>vs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227832" y="4078224"/>
            <a:ext cx="493776" cy="283464"/>
          </a:xfrm>
          <a:prstGeom prst="roundRect">
            <a:avLst>
              <a:gd name="adj" fmla="val 12000"/>
            </a:avLst>
          </a:prstGeom>
          <a:solidFill>
            <a:srgbClr val="EEE9FA"/>
          </a:solidFill>
          <a:ln w="10160">
            <a:solidFill>
              <a:srgbClr val="EE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64408" y="4091939"/>
            <a:ext cx="42062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750A4"/>
                </a:solidFill>
                <a:latin typeface="Noto Sans"/>
              </a:defRPr>
            </a:pPr>
            <a:r>
              <a:t>I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23360" y="3822191"/>
            <a:ext cx="1892807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261104" y="4078224"/>
            <a:ext cx="493776" cy="283464"/>
          </a:xfrm>
          <a:prstGeom prst="roundRect">
            <a:avLst>
              <a:gd name="adj" fmla="val 12000"/>
            </a:avLst>
          </a:prstGeom>
          <a:solidFill>
            <a:srgbClr val="DDF4F7"/>
          </a:solidFill>
          <a:ln w="10160">
            <a:solidFill>
              <a:srgbClr val="DD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97680" y="4091939"/>
            <a:ext cx="42062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87F95"/>
                </a:solidFill>
                <a:latin typeface="Noto Sans"/>
              </a:defRPr>
            </a:pPr>
            <a:r>
              <a:t>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46320" y="4087368"/>
            <a:ext cx="2560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393A0"/>
                </a:solidFill>
                <a:latin typeface="Noto Sans"/>
              </a:defRPr>
            </a:pPr>
            <a:r>
              <a:t>vs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193792" y="4078224"/>
            <a:ext cx="493776" cy="283464"/>
          </a:xfrm>
          <a:prstGeom prst="roundRect">
            <a:avLst>
              <a:gd name="adj" fmla="val 12000"/>
            </a:avLst>
          </a:prstGeom>
          <a:solidFill>
            <a:srgbClr val="EEE9FA"/>
          </a:solidFill>
          <a:ln w="10160">
            <a:solidFill>
              <a:srgbClr val="EE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30368" y="4091939"/>
            <a:ext cx="42062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750A4"/>
                </a:solidFill>
                <a:latin typeface="Noto Sans"/>
              </a:defRPr>
            </a:pPr>
            <a:r>
              <a:t>I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989320" y="3822191"/>
            <a:ext cx="1892807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227064" y="4078224"/>
            <a:ext cx="493776" cy="283464"/>
          </a:xfrm>
          <a:prstGeom prst="roundRect">
            <a:avLst>
              <a:gd name="adj" fmla="val 12000"/>
            </a:avLst>
          </a:prstGeom>
          <a:solidFill>
            <a:srgbClr val="DDF4F7"/>
          </a:solidFill>
          <a:ln w="10160">
            <a:solidFill>
              <a:srgbClr val="DD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63640" y="4091939"/>
            <a:ext cx="42062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87F95"/>
                </a:solidFill>
                <a:latin typeface="Noto Sans"/>
              </a:defRPr>
            </a:pPr>
            <a:r>
              <a:t>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12280" y="4087368"/>
            <a:ext cx="2560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393A0"/>
                </a:solidFill>
                <a:latin typeface="Noto Sans"/>
              </a:defRPr>
            </a:pPr>
            <a:r>
              <a:t>vs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159752" y="4078224"/>
            <a:ext cx="493776" cy="283464"/>
          </a:xfrm>
          <a:prstGeom prst="roundRect">
            <a:avLst>
              <a:gd name="adj" fmla="val 12000"/>
            </a:avLst>
          </a:prstGeom>
          <a:solidFill>
            <a:srgbClr val="EEE9FA"/>
          </a:solidFill>
          <a:ln w="10160">
            <a:solidFill>
              <a:srgbClr val="EEE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96328" y="4091939"/>
            <a:ext cx="42062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750A4"/>
                </a:solidFill>
                <a:latin typeface="Noto Sans"/>
              </a:defRPr>
            </a:pPr>
            <a:r>
              <a:t>I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275320" y="1572768"/>
            <a:ext cx="283464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275320" y="1572768"/>
            <a:ext cx="2834640" cy="54864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76488" y="1783080"/>
            <a:ext cx="2432304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87F95"/>
                </a:solidFill>
                <a:latin typeface="Noto Sans"/>
              </a:defRPr>
            </a:pPr>
            <a:r>
              <a:t>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76488" y="2322576"/>
            <a:ext cx="2432304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simulation cases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275320" y="2889504"/>
            <a:ext cx="283464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275320" y="2889504"/>
            <a:ext cx="2834640" cy="54864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476488" y="3099816"/>
            <a:ext cx="2432304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750A4"/>
                </a:solidFill>
                <a:latin typeface="Noto Sans"/>
              </a:defRPr>
            </a:pPr>
            <a:r>
              <a:t>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76488" y="3639312"/>
            <a:ext cx="2432304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matched pairs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275320" y="4206240"/>
            <a:ext cx="283464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275320" y="4206240"/>
            <a:ext cx="2834640" cy="54864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76488" y="4416552"/>
            <a:ext cx="2432304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98212"/>
                </a:solidFill>
                <a:latin typeface="Noto Sans"/>
              </a:defRPr>
            </a:pPr>
            <a:r>
              <a:t>1,440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476488" y="4956048"/>
            <a:ext cx="2432304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intervals per case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057400" y="5074920"/>
            <a:ext cx="5824728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276856" y="5221224"/>
            <a:ext cx="538581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5E7182"/>
                </a:solidFill>
                <a:latin typeface="Noto Sans"/>
              </a:defRPr>
            </a:pPr>
            <a:r>
              <a:t>N = non-integrated baseline · I = integrated candidate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C98212"/>
                </a:solidFill>
                <a:latin typeface="Noto Sans"/>
              </a:defRPr>
            </a:pPr>
            <a:r>
              <a:t>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The analysis protocol defines metrics before results are seen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Primary metrics, directionality, units, plausibility ranges, and quality rules are part of the approved plan.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6583680"/>
            <a:ext cx="708660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8393A0"/>
                </a:solidFill>
                <a:latin typeface="Noto Sans"/>
              </a:defRPr>
            </a:pPr>
            <a:r>
              <a:t>Protocol: chiller-benchmark-analysis-v2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682496"/>
            <a:ext cx="258775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56232"/>
            <a:ext cx="96012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95"/>
                </a:solidFill>
                <a:latin typeface="Noto Sans"/>
              </a:defRPr>
            </a:pPr>
            <a:r>
              <a:t>EHVAC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0552" y="1828800"/>
            <a:ext cx="822960" cy="283464"/>
          </a:xfrm>
          <a:prstGeom prst="roundRect">
            <a:avLst>
              <a:gd name="adj" fmla="val 12000"/>
            </a:avLst>
          </a:prstGeom>
          <a:solidFill>
            <a:srgbClr val="EDF2F5"/>
          </a:solidFill>
          <a:ln w="10160">
            <a:solidFill>
              <a:srgbClr val="ED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7128" y="1842516"/>
            <a:ext cx="7498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5E7182"/>
                </a:solidFill>
                <a:latin typeface="Noto Sans"/>
              </a:defRPr>
            </a:pPr>
            <a:r>
              <a:t>lower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295144"/>
            <a:ext cx="2148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162231"/>
                </a:solidFill>
                <a:latin typeface="Noto Sans"/>
              </a:defRPr>
            </a:pPr>
            <a:r>
              <a:t>HVAC energy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825496"/>
            <a:ext cx="214884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8393A0"/>
                </a:solidFill>
                <a:latin typeface="Liberation Mono"/>
              </a:defRPr>
            </a:pPr>
            <a:r>
              <a:t>kWh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6432" y="1682496"/>
            <a:ext cx="258775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1856232"/>
            <a:ext cx="96012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750A4"/>
                </a:solidFill>
                <a:latin typeface="Noto Sans"/>
              </a:defRPr>
            </a:pPr>
            <a:r>
              <a:t>PUE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65192" y="1828800"/>
            <a:ext cx="822960" cy="283464"/>
          </a:xfrm>
          <a:prstGeom prst="roundRect">
            <a:avLst>
              <a:gd name="adj" fmla="val 12000"/>
            </a:avLst>
          </a:prstGeom>
          <a:solidFill>
            <a:srgbClr val="EDF2F5"/>
          </a:solidFill>
          <a:ln w="10160">
            <a:solidFill>
              <a:srgbClr val="ED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1768" y="1842516"/>
            <a:ext cx="7498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5E7182"/>
                </a:solidFill>
                <a:latin typeface="Noto Sans"/>
              </a:defRPr>
            </a:pPr>
            <a:r>
              <a:t>lower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295144"/>
            <a:ext cx="2148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162231"/>
                </a:solidFill>
                <a:latin typeface="Noto Sans"/>
              </a:defRPr>
            </a:pPr>
            <a:r>
              <a:t>Power usage effectiveness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825496"/>
            <a:ext cx="214884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8393A0"/>
                </a:solidFill>
                <a:latin typeface="Liberation Mono"/>
              </a:defRPr>
            </a:pPr>
            <a:r>
              <a:t>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1682496"/>
            <a:ext cx="258775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856232"/>
            <a:ext cx="96012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98212"/>
                </a:solidFill>
                <a:latin typeface="Noto Sans"/>
              </a:defRPr>
            </a:pPr>
            <a:r>
              <a:t>Tpeak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99831" y="1828800"/>
            <a:ext cx="822960" cy="283464"/>
          </a:xfrm>
          <a:prstGeom prst="roundRect">
            <a:avLst>
              <a:gd name="adj" fmla="val 12000"/>
            </a:avLst>
          </a:prstGeom>
          <a:solidFill>
            <a:srgbClr val="EDF2F5"/>
          </a:solidFill>
          <a:ln w="10160">
            <a:solidFill>
              <a:srgbClr val="ED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36407" y="1842516"/>
            <a:ext cx="7498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5E7182"/>
                </a:solidFill>
                <a:latin typeface="Noto Sans"/>
              </a:defRPr>
            </a:pPr>
            <a:r>
              <a:t>lower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295144"/>
            <a:ext cx="2148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162231"/>
                </a:solidFill>
                <a:latin typeface="Noto Sans"/>
              </a:defRPr>
            </a:pPr>
            <a:r>
              <a:t>Peak room temperature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825496"/>
            <a:ext cx="214884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8393A0"/>
                </a:solidFill>
                <a:latin typeface="Liberation Mono"/>
              </a:defRPr>
            </a:pPr>
            <a:r>
              <a:t>°C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25712" y="1682496"/>
            <a:ext cx="258775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1856232"/>
            <a:ext cx="96012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1AFC1"/>
                </a:solidFill>
                <a:latin typeface="Noto Sans"/>
              </a:defRPr>
            </a:pPr>
            <a:r>
              <a:t>Exceed.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634472" y="1828800"/>
            <a:ext cx="822960" cy="283464"/>
          </a:xfrm>
          <a:prstGeom prst="roundRect">
            <a:avLst>
              <a:gd name="adj" fmla="val 12000"/>
            </a:avLst>
          </a:prstGeom>
          <a:solidFill>
            <a:srgbClr val="EDF2F5"/>
          </a:solidFill>
          <a:ln w="10160">
            <a:solidFill>
              <a:srgbClr val="ED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71048" y="1842516"/>
            <a:ext cx="7498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5E7182"/>
                </a:solidFill>
                <a:latin typeface="Noto Sans"/>
              </a:defRPr>
            </a:pPr>
            <a:r>
              <a:t>lower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2295144"/>
            <a:ext cx="2148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162231"/>
                </a:solidFill>
                <a:latin typeface="Noto Sans"/>
              </a:defRPr>
            </a:pPr>
            <a:r>
              <a:t>Degree-hours above 27 °C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2825496"/>
            <a:ext cx="214884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8393A0"/>
                </a:solidFill>
                <a:latin typeface="Liberation Mono"/>
              </a:defRPr>
            </a:pPr>
            <a:r>
              <a:t>°C·h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" y="3529584"/>
            <a:ext cx="258775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3703320"/>
            <a:ext cx="96012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95"/>
                </a:solidFill>
                <a:latin typeface="Noto Sans"/>
              </a:defRPr>
            </a:pPr>
            <a:r>
              <a:t>Free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30552" y="3675888"/>
            <a:ext cx="822960" cy="283464"/>
          </a:xfrm>
          <a:prstGeom prst="roundRect">
            <a:avLst>
              <a:gd name="adj" fmla="val 12000"/>
            </a:avLst>
          </a:prstGeom>
          <a:solidFill>
            <a:srgbClr val="EDF2F5"/>
          </a:solidFill>
          <a:ln w="10160">
            <a:solidFill>
              <a:srgbClr val="ED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67128" y="3689604"/>
            <a:ext cx="7498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5E7182"/>
                </a:solidFill>
                <a:latin typeface="Noto Sans"/>
              </a:defRPr>
            </a:pPr>
            <a:r>
              <a:t>context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142232"/>
            <a:ext cx="2148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162231"/>
                </a:solidFill>
                <a:latin typeface="Noto Sans"/>
              </a:defRPr>
            </a:pPr>
            <a:r>
              <a:t>Free-cooling duration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4672584"/>
            <a:ext cx="214884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8393A0"/>
                </a:solidFill>
                <a:latin typeface="Liberation Mono"/>
              </a:defRPr>
            </a:pPr>
            <a:r>
              <a:t>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56432" y="3529584"/>
            <a:ext cx="258775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0" y="3703320"/>
            <a:ext cx="96012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750A4"/>
                </a:solidFill>
                <a:latin typeface="Noto Sans"/>
              </a:defRPr>
            </a:pPr>
            <a:r>
              <a:t>Partial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65192" y="3675888"/>
            <a:ext cx="822960" cy="283464"/>
          </a:xfrm>
          <a:prstGeom prst="roundRect">
            <a:avLst>
              <a:gd name="adj" fmla="val 12000"/>
            </a:avLst>
          </a:prstGeom>
          <a:solidFill>
            <a:srgbClr val="EDF2F5"/>
          </a:solidFill>
          <a:ln w="10160">
            <a:solidFill>
              <a:srgbClr val="ED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01768" y="3689604"/>
            <a:ext cx="7498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5E7182"/>
                </a:solidFill>
                <a:latin typeface="Noto Sans"/>
              </a:defRPr>
            </a:pPr>
            <a:r>
              <a:t>context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142232"/>
            <a:ext cx="2148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162231"/>
                </a:solidFill>
                <a:latin typeface="Noto Sans"/>
              </a:defRPr>
            </a:pPr>
            <a:r>
              <a:t>Partial-mechanical duration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4672584"/>
            <a:ext cx="214884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8393A0"/>
                </a:solidFill>
                <a:latin typeface="Liberation Mono"/>
              </a:defRPr>
            </a:pPr>
            <a:r>
              <a:t>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91072" y="3529584"/>
            <a:ext cx="258775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3703320"/>
            <a:ext cx="96012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98212"/>
                </a:solidFill>
                <a:latin typeface="Noto Sans"/>
              </a:defRPr>
            </a:pPr>
            <a:r>
              <a:t>Full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99831" y="3675888"/>
            <a:ext cx="822960" cy="283464"/>
          </a:xfrm>
          <a:prstGeom prst="roundRect">
            <a:avLst>
              <a:gd name="adj" fmla="val 12000"/>
            </a:avLst>
          </a:prstGeom>
          <a:solidFill>
            <a:srgbClr val="EDF2F5"/>
          </a:solidFill>
          <a:ln w="10160">
            <a:solidFill>
              <a:srgbClr val="ED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36407" y="3689604"/>
            <a:ext cx="7498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5E7182"/>
                </a:solidFill>
                <a:latin typeface="Noto Sans"/>
              </a:defRPr>
            </a:pPr>
            <a:r>
              <a:t>context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4142232"/>
            <a:ext cx="2148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162231"/>
                </a:solidFill>
                <a:latin typeface="Noto Sans"/>
              </a:defRPr>
            </a:pPr>
            <a:r>
              <a:t>Full-mechanical duration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4672584"/>
            <a:ext cx="214884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8393A0"/>
                </a:solidFill>
                <a:latin typeface="Liberation Mono"/>
              </a:defRPr>
            </a:pPr>
            <a:r>
              <a:t>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25712" y="3529584"/>
            <a:ext cx="258775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26880" y="3703320"/>
            <a:ext cx="96012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1AFC1"/>
                </a:solidFill>
                <a:latin typeface="Noto Sans"/>
              </a:defRPr>
            </a:pPr>
            <a:r>
              <a:t>Switches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634472" y="3675888"/>
            <a:ext cx="822960" cy="283464"/>
          </a:xfrm>
          <a:prstGeom prst="roundRect">
            <a:avLst>
              <a:gd name="adj" fmla="val 12000"/>
            </a:avLst>
          </a:prstGeom>
          <a:solidFill>
            <a:srgbClr val="EDF2F5"/>
          </a:solidFill>
          <a:ln w="10160">
            <a:solidFill>
              <a:srgbClr val="ED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671048" y="3689604"/>
            <a:ext cx="7498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5E7182"/>
                </a:solidFill>
                <a:latin typeface="Noto Sans"/>
              </a:defRPr>
            </a:pPr>
            <a:r>
              <a:t>lower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0" y="4142232"/>
            <a:ext cx="2148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162231"/>
                </a:solidFill>
                <a:latin typeface="Noto Sans"/>
              </a:defRPr>
            </a:pPr>
            <a:r>
              <a:t>Cooling-mode transitions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4672584"/>
            <a:ext cx="214884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8393A0"/>
                </a:solidFill>
                <a:latin typeface="Liberation Mono"/>
              </a:defRPr>
            </a:pPr>
            <a:r>
              <a:t>count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054096" y="5468112"/>
            <a:ext cx="6080760" cy="530352"/>
          </a:xfrm>
          <a:prstGeom prst="roundRect">
            <a:avLst>
              <a:gd name="adj" fmla="val 12000"/>
            </a:avLst>
          </a:prstGeom>
          <a:solidFill>
            <a:srgbClr val="162231"/>
          </a:solidFill>
          <a:ln w="10160">
            <a:solidFill>
              <a:srgbClr val="16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73552" y="5614416"/>
            <a:ext cx="5641848" cy="25603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FFFFFF"/>
                </a:solidFill>
                <a:latin typeface="Noto Sans"/>
              </a:defRPr>
            </a:pPr>
            <a:r>
              <a:t>Protocol hash  653a8df166…a997e6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C98212"/>
                </a:solidFill>
                <a:latin typeface="Noto Sans"/>
              </a:defRPr>
            </a:pPr>
            <a:r>
              <a:t>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A numerical impulse exposed why safeguards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OpenModelica trajectories contain isolated nonphysical mover-power events; raw cumulative energy is preserved, while the approved primary metric bridges screened samples.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0200"/>
            <a:ext cx="7543800" cy="4370832"/>
          </a:xfrm>
          <a:prstGeom prst="rect">
            <a:avLst/>
          </a:prstGeom>
          <a:solidFill>
            <a:srgbClr val="FFFFFF"/>
          </a:solidFill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ing_f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92932"/>
            <a:ext cx="7543800" cy="318536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66928" y="1600200"/>
            <a:ext cx="7543800" cy="4370832"/>
          </a:xfrm>
          <a:prstGeom prst="rect">
            <a:avLst/>
          </a:prstGeom>
          <a:noFill/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85048" y="1755648"/>
            <a:ext cx="3145536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5048" y="1755648"/>
            <a:ext cx="73152" cy="1243584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956816"/>
            <a:ext cx="270662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Physical 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468880"/>
            <a:ext cx="268833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7182"/>
                </a:solidFill>
                <a:latin typeface="Noto Sans"/>
              </a:defRPr>
            </a:pPr>
            <a:r>
              <a:t>0 ≤ PHVAC ≤ 2 MW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5048" y="3227832"/>
            <a:ext cx="3145536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85048" y="3227832"/>
            <a:ext cx="73152" cy="1243584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3429000"/>
            <a:ext cx="270662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Repair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941063"/>
            <a:ext cx="268833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E7182"/>
                </a:solidFill>
                <a:latin typeface="Noto Sans"/>
              </a:defRPr>
            </a:pPr>
            <a:r>
              <a:t>Linear bridge internally; nearest valid value at a boundary.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85048" y="4700016"/>
            <a:ext cx="3145536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85048" y="4700016"/>
            <a:ext cx="73152" cy="1005840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4901183"/>
            <a:ext cx="270662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Observed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5413248"/>
            <a:ext cx="2688336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0.068–0.512% screened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5897880"/>
            <a:ext cx="35204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E7182"/>
                </a:solidFill>
                <a:latin typeface="Noto Sans"/>
              </a:defRPr>
            </a:pPr>
            <a:r>
              <a:t>Raw upstream energy remains available as a diagnostic; it is never overwritten.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C98212"/>
                </a:solidFill>
                <a:latin typeface="Noto Sans"/>
              </a:defRPr>
            </a:pPr>
            <a:r>
              <a:t>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The study passes its preregistered quality gate—with one disclosed warning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Quality checks test the study artifact before any conclusion is drafted.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6583680"/>
            <a:ext cx="708660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8393A0"/>
                </a:solidFill>
                <a:latin typeface="Noto Sans"/>
              </a:defRPr>
            </a:pPr>
            <a:r>
              <a:t>Source: experiment_results.json quality_report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737360"/>
            <a:ext cx="257860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37360"/>
            <a:ext cx="2578608" cy="54864"/>
          </a:xfrm>
          <a:prstGeom prst="rect">
            <a:avLst/>
          </a:prstGeom>
          <a:solidFill>
            <a:srgbClr val="16825D"/>
          </a:solidFill>
          <a:ln w="10160">
            <a:solidFill>
              <a:srgbClr val="1682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47672"/>
            <a:ext cx="2176272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6825D"/>
                </a:solidFill>
                <a:latin typeface="Noto Sans"/>
              </a:defRPr>
            </a:pPr>
            <a:r>
              <a:t>18 / 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487168"/>
            <a:ext cx="217627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cases successful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737360"/>
            <a:ext cx="257860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1737360"/>
            <a:ext cx="2578608" cy="54864"/>
          </a:xfrm>
          <a:prstGeom prst="rect">
            <a:avLst/>
          </a:prstGeom>
          <a:solidFill>
            <a:srgbClr val="16825D"/>
          </a:solidFill>
          <a:ln w="10160">
            <a:solidFill>
              <a:srgbClr val="1682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4448" y="1947672"/>
            <a:ext cx="2176272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6825D"/>
                </a:solidFill>
                <a:latin typeface="Noto Sans"/>
              </a:defRPr>
            </a:pPr>
            <a:r>
              <a:t>9 /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2487168"/>
            <a:ext cx="217627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matched pairs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1737360"/>
            <a:ext cx="257860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1737360"/>
            <a:ext cx="2578608" cy="54864"/>
          </a:xfrm>
          <a:prstGeom prst="rect">
            <a:avLst/>
          </a:prstGeom>
          <a:solidFill>
            <a:srgbClr val="16825D"/>
          </a:solidFill>
          <a:ln w="10160">
            <a:solidFill>
              <a:srgbClr val="1682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1947672"/>
            <a:ext cx="2176272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6825D"/>
                </a:solidFill>
                <a:latin typeface="Noto Sans"/>
              </a:defRPr>
            </a:pPr>
            <a:r>
              <a:t>72 / 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487168"/>
            <a:ext cx="217627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comparisons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33104" y="1737360"/>
            <a:ext cx="257860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33104" y="1737360"/>
            <a:ext cx="2578608" cy="54864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34272" y="1947672"/>
            <a:ext cx="2176272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98212"/>
                </a:solidFill>
                <a:latin typeface="Noto Sans"/>
              </a:defRPr>
            </a:pPr>
            <a:r>
              <a:t>8+1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2487168"/>
            <a:ext cx="217627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passed + warning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" y="3511296"/>
            <a:ext cx="384048" cy="283464"/>
          </a:xfrm>
          <a:prstGeom prst="roundRect">
            <a:avLst>
              <a:gd name="adj" fmla="val 12000"/>
            </a:avLst>
          </a:prstGeom>
          <a:solidFill>
            <a:srgbClr val="E2F6EE"/>
          </a:solidFill>
          <a:ln w="10160">
            <a:solidFill>
              <a:srgbClr val="E2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525012"/>
            <a:ext cx="310896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6825D"/>
                </a:solidFill>
                <a:latin typeface="Noto Sans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16736" y="3547872"/>
            <a:ext cx="4663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30" b="1">
                <a:solidFill>
                  <a:srgbClr val="162231"/>
                </a:solidFill>
                <a:latin typeface="Noto Sans"/>
              </a:defRPr>
            </a:pPr>
            <a:r>
              <a:t>Primary metrics complete and finite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18504" y="3511296"/>
            <a:ext cx="384048" cy="283464"/>
          </a:xfrm>
          <a:prstGeom prst="roundRect">
            <a:avLst>
              <a:gd name="adj" fmla="val 12000"/>
            </a:avLst>
          </a:prstGeom>
          <a:solidFill>
            <a:srgbClr val="E2F6EE"/>
          </a:solidFill>
          <a:ln w="10160">
            <a:solidFill>
              <a:srgbClr val="E2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525012"/>
            <a:ext cx="310896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6825D"/>
                </a:solidFill>
                <a:latin typeface="Noto Sans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48856" y="3547872"/>
            <a:ext cx="4663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30" b="1">
                <a:solidFill>
                  <a:srgbClr val="162231"/>
                </a:solidFill>
                <a:latin typeface="Noto Sans"/>
              </a:defRPr>
            </a:pPr>
            <a:r>
              <a:t>Raw-series SHA-256 integrity verified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6384" y="4133087"/>
            <a:ext cx="384048" cy="283464"/>
          </a:xfrm>
          <a:prstGeom prst="roundRect">
            <a:avLst>
              <a:gd name="adj" fmla="val 12000"/>
            </a:avLst>
          </a:prstGeom>
          <a:solidFill>
            <a:srgbClr val="E2F6EE"/>
          </a:solidFill>
          <a:ln w="10160">
            <a:solidFill>
              <a:srgbClr val="E2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146803"/>
            <a:ext cx="310896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6825D"/>
                </a:solidFill>
                <a:latin typeface="Noto Sans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4169663"/>
            <a:ext cx="4663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30" b="1">
                <a:solidFill>
                  <a:srgbClr val="162231"/>
                </a:solidFill>
                <a:latin typeface="Noto Sans"/>
              </a:defRPr>
            </a:pPr>
            <a:r>
              <a:t>PUE remains inside 1.0–3.0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18504" y="4133087"/>
            <a:ext cx="384048" cy="283464"/>
          </a:xfrm>
          <a:prstGeom prst="roundRect">
            <a:avLst>
              <a:gd name="adj" fmla="val 12000"/>
            </a:avLst>
          </a:prstGeom>
          <a:solidFill>
            <a:srgbClr val="E2F6EE"/>
          </a:solidFill>
          <a:ln w="10160">
            <a:solidFill>
              <a:srgbClr val="E2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146803"/>
            <a:ext cx="310896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6825D"/>
                </a:solidFill>
                <a:latin typeface="Noto Sans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48856" y="4169663"/>
            <a:ext cx="4663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30" b="1">
                <a:solidFill>
                  <a:srgbClr val="162231"/>
                </a:solidFill>
                <a:latin typeface="Noto Sans"/>
              </a:defRPr>
            </a:pPr>
            <a:r>
              <a:t>Cooling-mode time balances to 24 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6384" y="4754880"/>
            <a:ext cx="384048" cy="283464"/>
          </a:xfrm>
          <a:prstGeom prst="roundRect">
            <a:avLst>
              <a:gd name="adj" fmla="val 12000"/>
            </a:avLst>
          </a:prstGeom>
          <a:solidFill>
            <a:srgbClr val="E2F6EE"/>
          </a:solidFill>
          <a:ln w="10160">
            <a:solidFill>
              <a:srgbClr val="E2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768596"/>
            <a:ext cx="310896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6825D"/>
                </a:solidFill>
                <a:latin typeface="Noto Sans"/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6736" y="4791456"/>
            <a:ext cx="4663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30" b="1">
                <a:solidFill>
                  <a:srgbClr val="162231"/>
                </a:solidFill>
                <a:latin typeface="Noto Sans"/>
              </a:defRPr>
            </a:pPr>
            <a:r>
              <a:t>IT energy is monotonic with load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18504" y="4754880"/>
            <a:ext cx="384048" cy="283464"/>
          </a:xfrm>
          <a:prstGeom prst="roundRect">
            <a:avLst>
              <a:gd name="adj" fmla="val 12000"/>
            </a:avLst>
          </a:prstGeom>
          <a:solidFill>
            <a:srgbClr val="FFF3DC"/>
          </a:solidFill>
          <a:ln w="10160">
            <a:solidFill>
              <a:srgbClr val="FF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4768596"/>
            <a:ext cx="310896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98212"/>
                </a:solidFill>
                <a:latin typeface="Noto Sans"/>
              </a:defRPr>
            </a:pPr>
            <a:r>
              <a:t>!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48856" y="4791456"/>
            <a:ext cx="4663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30" b="1">
                <a:solidFill>
                  <a:srgbClr val="162231"/>
                </a:solidFill>
                <a:latin typeface="Noto Sans"/>
              </a:defRPr>
            </a:pPr>
            <a:r>
              <a:t>Power screening stays below 1% maximum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69848" y="5614416"/>
            <a:ext cx="10076688" cy="493776"/>
          </a:xfrm>
          <a:prstGeom prst="roundRect">
            <a:avLst>
              <a:gd name="adj" fmla="val 12000"/>
            </a:avLst>
          </a:prstGeom>
          <a:solidFill>
            <a:srgbClr val="FFF3DC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89304" y="5760720"/>
            <a:ext cx="963777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C98212"/>
                </a:solidFill>
                <a:latin typeface="Noto Sans"/>
              </a:defRPr>
            </a:pPr>
            <a:r>
              <a:t>Quality-valid means the declared analysis is internally defensible—not that the physical model is calibrated.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C98212"/>
                </a:solidFill>
                <a:latin typeface="Noto Sans"/>
              </a:defRPr>
            </a:pPr>
            <a:r>
              <a:t>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Metrics remain connected to the stored trajectories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A reviewer can move from a result summary back to the screened power and room-temperature time series.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63624"/>
            <a:ext cx="7818120" cy="4526280"/>
          </a:xfrm>
          <a:prstGeom prst="rect">
            <a:avLst/>
          </a:prstGeom>
          <a:solidFill>
            <a:srgbClr val="FFFFFF"/>
          </a:solidFill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presentative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05" y="1563624"/>
            <a:ext cx="7551868" cy="45262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0080" y="1563624"/>
            <a:ext cx="7818120" cy="4526280"/>
          </a:xfrm>
          <a:prstGeom prst="rect">
            <a:avLst/>
          </a:prstGeom>
          <a:noFill/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23376" y="1773936"/>
            <a:ext cx="278892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23376" y="1773936"/>
            <a:ext cx="73152" cy="1170432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9407" y="1975104"/>
            <a:ext cx="235000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Representative 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7" y="2487168"/>
            <a:ext cx="23317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E7182"/>
                </a:solidFill>
                <a:latin typeface="Noto Sans"/>
              </a:defRPr>
            </a:pPr>
            <a:r>
              <a:t>500 kW · 6 °C · 24 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23376" y="3200400"/>
            <a:ext cx="278892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23376" y="3200400"/>
            <a:ext cx="73152" cy="1170432"/>
          </a:xfrm>
          <a:prstGeom prst="rect">
            <a:avLst/>
          </a:prstGeom>
          <a:solidFill>
            <a:srgbClr val="8393A0"/>
          </a:solidFill>
          <a:ln w="10160">
            <a:solidFill>
              <a:srgbClr val="839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7" y="3401568"/>
            <a:ext cx="235000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7" y="3913632"/>
            <a:ext cx="23317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E7182"/>
                </a:solidFill>
                <a:latin typeface="Noto Sans"/>
              </a:defRPr>
            </a:pPr>
            <a:r>
              <a:t>Non-integrated plant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23376" y="4626864"/>
            <a:ext cx="278892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23376" y="4626864"/>
            <a:ext cx="73152" cy="1170432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79407" y="4828031"/>
            <a:ext cx="235000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Candidate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7" y="5340096"/>
            <a:ext cx="23317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E7182"/>
                </a:solidFill>
                <a:latin typeface="Noto Sans"/>
              </a:defRPr>
            </a:pPr>
            <a:r>
              <a:t>Integrated plant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82296" cy="420624"/>
          </a:xfrm>
          <a:prstGeom prst="rect">
            <a:avLst/>
          </a:prstGeom>
          <a:solidFill>
            <a:srgbClr val="B94747"/>
          </a:solidFill>
          <a:ln w="10160">
            <a:solidFill>
              <a:srgbClr val="B9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603504"/>
            <a:ext cx="2743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B94747"/>
                </a:solidFill>
                <a:latin typeface="Noto Sans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81912"/>
            <a:ext cx="1060704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Noto Sans"/>
              </a:defRPr>
            </a:pPr>
            <a:r>
              <a:t>The integrated configuration is not an energy winner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496312"/>
            <a:ext cx="987552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C6D6DF"/>
                </a:solidFill>
                <a:latin typeface="Noto Sans"/>
              </a:defRPr>
            </a:pPr>
            <a:r>
              <a:t>Across all nine operating points it uses more screened HVAC energy. At 6 °C it also maintains a cooler peak room temperature—revealing a trade-off worth investigating.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6656" y="4160520"/>
            <a:ext cx="10204704" cy="0"/>
          </a:xfrm>
          <a:prstGeom prst="line">
            <a:avLst/>
          </a:prstGeom>
          <a:ln w="12700">
            <a:solidFill>
              <a:srgbClr val="4053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76656" y="4498848"/>
            <a:ext cx="2148840" cy="283464"/>
          </a:xfrm>
          <a:prstGeom prst="roundRect">
            <a:avLst>
              <a:gd name="adj" fmla="val 12000"/>
            </a:avLst>
          </a:prstGeom>
          <a:solidFill>
            <a:srgbClr val="203442"/>
          </a:solidFill>
          <a:ln w="10160">
            <a:solidFill>
              <a:srgbClr val="36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512564"/>
            <a:ext cx="207568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BEAF0"/>
                </a:solidFill>
                <a:latin typeface="Noto Sans"/>
              </a:defRPr>
            </a:pPr>
            <a:r>
              <a:t>+10.3% mean energy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0088" y="4498848"/>
            <a:ext cx="2148840" cy="283464"/>
          </a:xfrm>
          <a:prstGeom prst="roundRect">
            <a:avLst>
              <a:gd name="adj" fmla="val 12000"/>
            </a:avLst>
          </a:prstGeom>
          <a:solidFill>
            <a:srgbClr val="203442"/>
          </a:solidFill>
          <a:ln w="10160">
            <a:solidFill>
              <a:srgbClr val="36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6664" y="4512564"/>
            <a:ext cx="207568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BEAF0"/>
                </a:solidFill>
                <a:latin typeface="Noto Sans"/>
              </a:defRPr>
            </a:pPr>
            <a:r>
              <a:t>0 / 9 energy wins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4498848"/>
            <a:ext cx="1911095" cy="283464"/>
          </a:xfrm>
          <a:prstGeom prst="roundRect">
            <a:avLst>
              <a:gd name="adj" fmla="val 12000"/>
            </a:avLst>
          </a:prstGeom>
          <a:solidFill>
            <a:srgbClr val="203442"/>
          </a:solidFill>
          <a:ln w="10160">
            <a:solidFill>
              <a:srgbClr val="36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0096" y="4512564"/>
            <a:ext cx="1837943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BEAF0"/>
                </a:solidFill>
                <a:latin typeface="Noto Sans"/>
              </a:defRPr>
            </a:pPr>
            <a:r>
              <a:t>cooler at 6 °C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79208" y="4498848"/>
            <a:ext cx="2148840" cy="283464"/>
          </a:xfrm>
          <a:prstGeom prst="roundRect">
            <a:avLst>
              <a:gd name="adj" fmla="val 12000"/>
            </a:avLst>
          </a:prstGeom>
          <a:solidFill>
            <a:srgbClr val="203442"/>
          </a:solidFill>
          <a:ln w="10160">
            <a:solidFill>
              <a:srgbClr val="36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15783" y="4512564"/>
            <a:ext cx="207568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BEAF0"/>
                </a:solidFill>
                <a:latin typeface="Noto Sans"/>
              </a:defRPr>
            </a:pPr>
            <a:r>
              <a:t>0 thermal exceedance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3144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B94747"/>
          </a:solidFill>
          <a:ln w="10160">
            <a:solidFill>
              <a:srgbClr val="B9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B7C7D2"/>
                </a:solidFill>
                <a:latin typeface="Noto Sans"/>
              </a:defRPr>
            </a:pPr>
            <a:r>
              <a:t>RCP.2026/11  ·  PI REVIEW  · 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B7C7D2"/>
                </a:solidFill>
                <a:latin typeface="Noto San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B94747"/>
          </a:solidFill>
          <a:ln w="10160">
            <a:solidFill>
              <a:srgbClr val="B9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B94747"/>
                </a:solidFill>
                <a:latin typeface="Noto Sans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Integrated HVAC energy increases in every matched 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The increase ranges from +2.9% to +18.4%; mean change is +10.3%.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B94747"/>
          </a:solidFill>
          <a:ln w="10160">
            <a:solidFill>
              <a:srgbClr val="B9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6583680"/>
            <a:ext cx="708660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8393A0"/>
                </a:solidFill>
                <a:latin typeface="Noto Sans"/>
              </a:defRPr>
            </a:pPr>
            <a:r>
              <a:t>Source: benchmark revision 4b5e8132fa…27336d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28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" y="1600200"/>
            <a:ext cx="7406640" cy="4453128"/>
          </a:xfrm>
          <a:prstGeom prst="rect">
            <a:avLst/>
          </a:prstGeom>
          <a:solidFill>
            <a:srgbClr val="FFFFFF"/>
          </a:solidFill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nergy_delta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647176"/>
            <a:ext cx="7406640" cy="435917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3504" y="1600200"/>
            <a:ext cx="7406640" cy="4453128"/>
          </a:xfrm>
          <a:prstGeom prst="rect">
            <a:avLst/>
          </a:prstGeom>
          <a:noFill/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66760" y="1783080"/>
            <a:ext cx="29077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2907792" cy="54864"/>
          </a:xfrm>
          <a:prstGeom prst="rect">
            <a:avLst/>
          </a:prstGeom>
          <a:solidFill>
            <a:srgbClr val="B94747"/>
          </a:solidFill>
          <a:ln w="10160">
            <a:solidFill>
              <a:srgbClr val="B9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1993392"/>
            <a:ext cx="2505456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B94747"/>
                </a:solidFill>
                <a:latin typeface="Noto Sans"/>
              </a:defRPr>
            </a:pPr>
            <a:r>
              <a:t>+10.3%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2532888"/>
            <a:ext cx="250545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mean HVAC energy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3246120"/>
            <a:ext cx="29077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66760" y="3246120"/>
            <a:ext cx="2907792" cy="54864"/>
          </a:xfrm>
          <a:prstGeom prst="rect">
            <a:avLst/>
          </a:prstGeom>
          <a:solidFill>
            <a:srgbClr val="B94747"/>
          </a:solidFill>
          <a:ln w="10160">
            <a:solidFill>
              <a:srgbClr val="B9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7928" y="3456432"/>
            <a:ext cx="2505456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B94747"/>
                </a:solidFill>
                <a:latin typeface="Noto Sans"/>
              </a:defRPr>
            </a:pPr>
            <a:r>
              <a:t>0 / 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3995928"/>
            <a:ext cx="250545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candidate energy wins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4709160"/>
            <a:ext cx="29077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66760" y="4709160"/>
            <a:ext cx="2907792" cy="54864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67928" y="4919472"/>
            <a:ext cx="2505456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98212"/>
                </a:solidFill>
                <a:latin typeface="Noto Sans"/>
              </a:defRPr>
            </a:pPr>
            <a:r>
              <a:t>+2.9–18.4%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7928" y="5458968"/>
            <a:ext cx="250545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observed range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B94747"/>
          </a:solidFill>
          <a:ln w="10160">
            <a:solidFill>
              <a:srgbClr val="B9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B94747"/>
                </a:solidFill>
                <a:latin typeface="Noto Sans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The thermal benefit appears only at the lowest setpoint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At 6 °C, integration lowers peak room temperature by 0.243–0.869 °C; at 8–10 °C the effect is negligible or slightly adverse.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B94747"/>
          </a:solidFill>
          <a:ln w="10160">
            <a:solidFill>
              <a:srgbClr val="B9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1600200"/>
            <a:ext cx="7406640" cy="4453128"/>
          </a:xfrm>
          <a:prstGeom prst="rect">
            <a:avLst/>
          </a:prstGeom>
          <a:solidFill>
            <a:srgbClr val="FFFFFF"/>
          </a:solidFill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emperature_delta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647176"/>
            <a:ext cx="7406640" cy="43591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3504" y="1600200"/>
            <a:ext cx="7406640" cy="4453128"/>
          </a:xfrm>
          <a:prstGeom prst="rect">
            <a:avLst/>
          </a:prstGeom>
          <a:noFill/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66760" y="1783080"/>
            <a:ext cx="29077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66760" y="1783080"/>
            <a:ext cx="2907792" cy="54864"/>
          </a:xfrm>
          <a:prstGeom prst="rect">
            <a:avLst/>
          </a:prstGeom>
          <a:solidFill>
            <a:srgbClr val="16825D"/>
          </a:solidFill>
          <a:ln w="10160">
            <a:solidFill>
              <a:srgbClr val="1682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67928" y="1993392"/>
            <a:ext cx="2505456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6825D"/>
                </a:solidFill>
                <a:latin typeface="Noto Sans"/>
              </a:defRPr>
            </a:pPr>
            <a:r>
              <a:t>-0.869 °C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2532888"/>
            <a:ext cx="250545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largest peak reduction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3246120"/>
            <a:ext cx="29077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3246120"/>
            <a:ext cx="2907792" cy="54864"/>
          </a:xfrm>
          <a:prstGeom prst="rect">
            <a:avLst/>
          </a:prstGeom>
          <a:solidFill>
            <a:srgbClr val="16825D"/>
          </a:solidFill>
          <a:ln w="10160">
            <a:solidFill>
              <a:srgbClr val="1682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67928" y="3456432"/>
            <a:ext cx="2505456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6825D"/>
                </a:solidFill>
                <a:latin typeface="Noto Sans"/>
              </a:defRPr>
            </a:pPr>
            <a:r>
              <a:t>0 °C·h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3995928"/>
            <a:ext cx="250545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exceedance above 27 °C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4709160"/>
            <a:ext cx="29077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66760" y="4709160"/>
            <a:ext cx="2907792" cy="54864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7928" y="4919472"/>
            <a:ext cx="2505456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98212"/>
                </a:solidFill>
                <a:latin typeface="Noto Sans"/>
              </a:defRPr>
            </a:pPr>
            <a:r>
              <a:t>+0.105 °C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7928" y="5458968"/>
            <a:ext cx="250545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largest slight worsening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B94747"/>
          </a:solidFill>
          <a:ln w="10160">
            <a:solidFill>
              <a:srgbClr val="B9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B94747"/>
                </a:solidFill>
                <a:latin typeface="Noto Sans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Integration changes operating mode—not simply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At 500 kW and 6 °C, full-mechanical hours disappear, but partial-mechanical operation expands to 16.8 hours.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B94747"/>
          </a:solidFill>
          <a:ln w="10160">
            <a:solidFill>
              <a:srgbClr val="B9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7461504" cy="4187952"/>
          </a:xfrm>
          <a:prstGeom prst="rect">
            <a:avLst/>
          </a:prstGeom>
          <a:solidFill>
            <a:srgbClr val="FFFFFF"/>
          </a:solidFill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ode_al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73542"/>
            <a:ext cx="7461504" cy="353270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0080" y="1645920"/>
            <a:ext cx="7461504" cy="4187952"/>
          </a:xfrm>
          <a:prstGeom prst="rect">
            <a:avLst/>
          </a:prstGeom>
          <a:noFill/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1810512"/>
            <a:ext cx="2889504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1810512"/>
            <a:ext cx="73152" cy="1170432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1" y="2011680"/>
            <a:ext cx="24505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1" y="2523744"/>
            <a:ext cx="243230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17.1 h free + 6.9 h full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3218688"/>
            <a:ext cx="2889504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0" y="3218688"/>
            <a:ext cx="73152" cy="1170432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8511" y="3419856"/>
            <a:ext cx="24505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Integrated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3931920"/>
            <a:ext cx="243230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7.2 h free + 16.8 h partial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4626864"/>
            <a:ext cx="2889504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0" y="4626864"/>
            <a:ext cx="73152" cy="1170432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8511" y="4828031"/>
            <a:ext cx="24505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Both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8511" y="5340096"/>
            <a:ext cx="243230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4 mode switches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B94747"/>
          </a:solidFill>
          <a:ln w="10160">
            <a:solidFill>
              <a:srgbClr val="B9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B94747"/>
                </a:solidFill>
                <a:latin typeface="Noto Sans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The correct conclusion is conditional—not ‘integrated is better’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The data suggest an energy–thermal-margin trade-off at 6 °C and no energy advantage elsewhere.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B94747"/>
          </a:solidFill>
          <a:ln w="10160">
            <a:solidFill>
              <a:srgbClr val="B9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1609344"/>
            <a:ext cx="7479792" cy="4407408"/>
          </a:xfrm>
          <a:prstGeom prst="rect">
            <a:avLst/>
          </a:prstGeom>
          <a:solidFill>
            <a:srgbClr val="FFFFFF"/>
          </a:solidFill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adeoff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20874"/>
            <a:ext cx="7479792" cy="418434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21792" y="1609344"/>
            <a:ext cx="7479792" cy="4407408"/>
          </a:xfrm>
          <a:prstGeom prst="rect">
            <a:avLst/>
          </a:prstGeom>
          <a:noFill/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58200" y="1792224"/>
            <a:ext cx="2688336" cy="475488"/>
          </a:xfrm>
          <a:prstGeom prst="roundRect">
            <a:avLst>
              <a:gd name="adj" fmla="val 12000"/>
            </a:avLst>
          </a:prstGeom>
          <a:solidFill>
            <a:srgbClr val="E2F6EE"/>
          </a:solidFill>
          <a:ln w="10160">
            <a:solidFill>
              <a:srgbClr val="1682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7656" y="1938528"/>
            <a:ext cx="2249424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6825D"/>
                </a:solidFill>
                <a:latin typeface="Noto Sans"/>
              </a:defRPr>
            </a:pPr>
            <a:r>
              <a:t>Supported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2423160"/>
            <a:ext cx="274320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62231"/>
                </a:solidFill>
                <a:latin typeface="Noto Sans"/>
              </a:defRPr>
            </a:pPr>
            <a:r>
              <a:t>Integration can reduce peak temperature at 6 °C, with higher HVAC energy.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3401568"/>
            <a:ext cx="2688336" cy="475488"/>
          </a:xfrm>
          <a:prstGeom prst="roundRect">
            <a:avLst>
              <a:gd name="adj" fmla="val 12000"/>
            </a:avLst>
          </a:prstGeom>
          <a:solidFill>
            <a:srgbClr val="FBE9E9"/>
          </a:solidFill>
          <a:ln w="10160">
            <a:solidFill>
              <a:srgbClr val="B9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77656" y="3547872"/>
            <a:ext cx="2249424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B94747"/>
                </a:solidFill>
                <a:latin typeface="Noto Sans"/>
              </a:defRPr>
            </a:pPr>
            <a:r>
              <a:t>Not supported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4032504"/>
            <a:ext cx="2743200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62231"/>
                </a:solidFill>
                <a:latin typeface="Noto Sans"/>
              </a:defRPr>
            </a:pPr>
            <a:r>
              <a:t>Integration minimizes energy across the evaluated domain.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4919472"/>
            <a:ext cx="2688336" cy="475488"/>
          </a:xfrm>
          <a:prstGeom prst="roundRect">
            <a:avLst>
              <a:gd name="adj" fmla="val 12000"/>
            </a:avLst>
          </a:prstGeom>
          <a:solidFill>
            <a:srgbClr val="FFF3DC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77656" y="5065776"/>
            <a:ext cx="2249424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C98212"/>
                </a:solidFill>
                <a:latin typeface="Noto Sans"/>
              </a:defRPr>
            </a:pPr>
            <a:r>
              <a:t>Next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5522976"/>
            <a:ext cx="2743200" cy="5212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What control objective values thermal margin enough to justify the cost?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B94747"/>
          </a:solidFill>
          <a:ln w="10160">
            <a:solidFill>
              <a:srgbClr val="B9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B94747"/>
                </a:solidFill>
                <a:latin typeface="Noto Sans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Every conclusion can be traced back to a sealed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The same chain supports review, reanalysis, and export without trusting the narrative layer.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B94747"/>
          </a:solidFill>
          <a:ln w="10160">
            <a:solidFill>
              <a:srgbClr val="B9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057400"/>
            <a:ext cx="1581912" cy="1280160"/>
          </a:xfrm>
          <a:prstGeom prst="roundRect">
            <a:avLst>
              <a:gd name="adj" fmla="val 12000"/>
            </a:avLst>
          </a:prstGeom>
          <a:solidFill>
            <a:srgbClr val="6750A4"/>
          </a:solidFill>
          <a:ln w="1524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03704"/>
            <a:ext cx="125272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FFFF"/>
                </a:solidFill>
                <a:latin typeface="Noto Sans"/>
              </a:defRPr>
            </a:pPr>
            <a:r>
              <a:t>Approved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542032"/>
            <a:ext cx="1289304" cy="68579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E4EFF3"/>
                </a:solidFill>
                <a:latin typeface="Noto Sans"/>
              </a:defRPr>
            </a:pPr>
            <a:r>
              <a:t>cc273daa59…59de99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12264" y="2697480"/>
            <a:ext cx="265176" cy="0"/>
          </a:xfrm>
          <a:prstGeom prst="line">
            <a:avLst/>
          </a:prstGeom>
          <a:ln w="16510">
            <a:solidFill>
              <a:srgbClr val="83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32304" y="2057400"/>
            <a:ext cx="1581912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6896" y="2203704"/>
            <a:ext cx="125272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Analysis protocol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542032"/>
            <a:ext cx="1289304" cy="68579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653a8df166…a997e6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14216" y="2697480"/>
            <a:ext cx="265176" cy="0"/>
          </a:xfrm>
          <a:prstGeom prst="line">
            <a:avLst/>
          </a:prstGeom>
          <a:ln w="16510">
            <a:solidFill>
              <a:srgbClr val="83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34256" y="2057400"/>
            <a:ext cx="1581912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2203704"/>
            <a:ext cx="125272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Execution specs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542032"/>
            <a:ext cx="1289304" cy="68579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18 case hashes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16168" y="2697480"/>
            <a:ext cx="265176" cy="0"/>
          </a:xfrm>
          <a:prstGeom prst="line">
            <a:avLst/>
          </a:prstGeom>
          <a:ln w="16510">
            <a:solidFill>
              <a:srgbClr val="83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6208" y="2057400"/>
            <a:ext cx="1581912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203704"/>
            <a:ext cx="125272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Raw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42032"/>
            <a:ext cx="1289304" cy="68579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7a892f4093…dba500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18120" y="2697480"/>
            <a:ext cx="265176" cy="0"/>
          </a:xfrm>
          <a:prstGeom prst="line">
            <a:avLst/>
          </a:prstGeom>
          <a:ln w="16510">
            <a:solidFill>
              <a:srgbClr val="83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8160" y="2057400"/>
            <a:ext cx="1581912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1682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2203704"/>
            <a:ext cx="125272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Analysis revision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4" y="2542032"/>
            <a:ext cx="1289304" cy="68579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4b5e8132fa…27336d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20072" y="2697480"/>
            <a:ext cx="265176" cy="0"/>
          </a:xfrm>
          <a:prstGeom prst="line">
            <a:avLst/>
          </a:prstGeom>
          <a:ln w="16510">
            <a:solidFill>
              <a:srgbClr val="83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040112" y="2057400"/>
            <a:ext cx="1581912" cy="1280160"/>
          </a:xfrm>
          <a:prstGeom prst="roundRect">
            <a:avLst>
              <a:gd name="adj" fmla="val 12000"/>
            </a:avLst>
          </a:prstGeom>
          <a:solidFill>
            <a:srgbClr val="B94747"/>
          </a:solidFill>
          <a:ln w="15240">
            <a:solidFill>
              <a:srgbClr val="B9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04704" y="2203704"/>
            <a:ext cx="125272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FFFF"/>
                </a:solidFill>
                <a:latin typeface="Noto Sans"/>
              </a:defRPr>
            </a:pPr>
            <a:r>
              <a:t>Claim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6416" y="2542032"/>
            <a:ext cx="1289304" cy="68579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E4EFF3"/>
                </a:solidFill>
                <a:latin typeface="Noto Sans"/>
              </a:defRPr>
            </a:pPr>
            <a:r>
              <a:t>comparison + case + paper IDs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" y="4160520"/>
            <a:ext cx="33832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8952" y="4160520"/>
            <a:ext cx="73152" cy="1143000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983" y="4361688"/>
            <a:ext cx="294436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Tamper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3" y="4873752"/>
            <a:ext cx="2926080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5E7182"/>
                </a:solidFill>
                <a:latin typeface="Noto Sans"/>
              </a:defRPr>
            </a:pPr>
            <a:r>
              <a:t>Raw files are checked against recorded SHA-256 fingerprints before analysis.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07408" y="4160520"/>
            <a:ext cx="33832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07408" y="4160520"/>
            <a:ext cx="73152" cy="1143000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4361688"/>
            <a:ext cx="294436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Append-only analysis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873752"/>
            <a:ext cx="2926080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5E7182"/>
                </a:solidFill>
                <a:latin typeface="Noto Sans"/>
              </a:defRPr>
            </a:pPr>
            <a:r>
              <a:t>A protocol change creates a new revision; the previous result is retained.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55864" y="4160520"/>
            <a:ext cx="33832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55864" y="4160520"/>
            <a:ext cx="73152" cy="1143000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11896" y="4361688"/>
            <a:ext cx="294436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Claim links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11896" y="4873752"/>
            <a:ext cx="2926080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5E7182"/>
                </a:solidFill>
                <a:latin typeface="Noto Sans"/>
              </a:defRPr>
            </a:pPr>
            <a:r>
              <a:t>Draft statements cite comparison, case, and supporting-paper identifiers.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50008" y="5596128"/>
            <a:ext cx="7498079" cy="475488"/>
          </a:xfrm>
          <a:prstGeom prst="roundRect">
            <a:avLst>
              <a:gd name="adj" fmla="val 12000"/>
            </a:avLst>
          </a:prstGeom>
          <a:solidFill>
            <a:srgbClr val="162231"/>
          </a:solidFill>
          <a:ln w="10160">
            <a:solidFill>
              <a:srgbClr val="16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69463" y="5742432"/>
            <a:ext cx="7059167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FFFFFF"/>
                </a:solidFill>
                <a:latin typeface="Noto Sans"/>
              </a:defRPr>
            </a:pPr>
            <a:r>
              <a:t>The report is a view over evidence—not the evidence itself.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B94747"/>
          </a:solidFill>
          <a:ln w="10160">
            <a:solidFill>
              <a:srgbClr val="B9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B94747"/>
                </a:solidFill>
                <a:latin typeface="Noto Sans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Reanalysis is versioned instead of silently replacing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The benchmark currently has two stored analysis revisions; the newest records that the protocol changed.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B94747"/>
          </a:solidFill>
          <a:ln w="10160">
            <a:solidFill>
              <a:srgbClr val="B9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901952"/>
            <a:ext cx="4517136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839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5568" y="2185416"/>
            <a:ext cx="1170432" cy="283464"/>
          </a:xfrm>
          <a:prstGeom prst="roundRect">
            <a:avLst>
              <a:gd name="adj" fmla="val 12000"/>
            </a:avLst>
          </a:prstGeom>
          <a:solidFill>
            <a:srgbClr val="EDF2F5"/>
          </a:solidFill>
          <a:ln w="10160">
            <a:solidFill>
              <a:srgbClr val="ED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" y="2199132"/>
            <a:ext cx="10972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5E7182"/>
                </a:solidFill>
                <a:latin typeface="Noto Sans"/>
              </a:defRPr>
            </a:pPr>
            <a:r>
              <a:t>REVISION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779776"/>
            <a:ext cx="35204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2231"/>
                </a:solidFill>
                <a:latin typeface="Liberation Mono"/>
              </a:defRPr>
            </a:pPr>
            <a:r>
              <a:t>f906…ec70f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401568"/>
            <a:ext cx="3520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Retained as historical analysis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21808" y="3099816"/>
            <a:ext cx="1261872" cy="0"/>
          </a:xfrm>
          <a:prstGeom prst="line">
            <a:avLst/>
          </a:prstGeom>
          <a:ln w="25400">
            <a:solidFill>
              <a:srgbClr val="6750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04104" y="2651760"/>
            <a:ext cx="10972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6750A4"/>
                </a:solidFill>
                <a:latin typeface="Noto Sans"/>
              </a:defRPr>
            </a:pPr>
            <a:r>
              <a:t>protocol change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1901952"/>
            <a:ext cx="4700016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1682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03720" y="2185416"/>
            <a:ext cx="1042415" cy="283464"/>
          </a:xfrm>
          <a:prstGeom prst="roundRect">
            <a:avLst>
              <a:gd name="adj" fmla="val 12000"/>
            </a:avLst>
          </a:prstGeom>
          <a:solidFill>
            <a:srgbClr val="E2F6EE"/>
          </a:solidFill>
          <a:ln w="10160">
            <a:solidFill>
              <a:srgbClr val="E2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0296" y="2199132"/>
            <a:ext cx="969263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6825D"/>
                </a:solidFill>
                <a:latin typeface="Noto Sans"/>
              </a:defRPr>
            </a:pPr>
            <a:r>
              <a:t>CURRENT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779776"/>
            <a:ext cx="3794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2231"/>
                </a:solidFill>
                <a:latin typeface="Liberation Mono"/>
              </a:defRPr>
            </a:pPr>
            <a:r>
              <a:t>4b5e8132fa…27336d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401568"/>
            <a:ext cx="3794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Metrics recomputed from stored raw series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956048"/>
            <a:ext cx="9784080" cy="713232"/>
          </a:xfrm>
          <a:prstGeom prst="roundRect">
            <a:avLst>
              <a:gd name="adj" fmla="val 12000"/>
            </a:avLst>
          </a:prstGeom>
          <a:solidFill>
            <a:srgbClr val="EEE9FA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8176" y="5102352"/>
            <a:ext cx="9345167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6750A4"/>
                </a:solidFill>
                <a:latin typeface="Noto Sans"/>
              </a:defRPr>
            </a:pPr>
            <a:r>
              <a:t>Result: methodological improvement without erasing the record that supported earlier outputs.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87F95"/>
                </a:solidFill>
                <a:latin typeface="Noto Sans"/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The interface is designed around reviewable research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Light and dark themes, keyboard-visible controls, responsive layouts, URL-addressable views, and explicit lifecycle actions are now implemented.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34</a:t>
            </a:r>
          </a:p>
        </p:txBody>
      </p:sp>
      <p:pic>
        <p:nvPicPr>
          <p:cNvPr id="10" name="Picture 9" descr="dashboard_light.png"/>
          <p:cNvPicPr>
            <a:picLocks noChangeAspect="1"/>
          </p:cNvPicPr>
          <p:nvPr/>
        </p:nvPicPr>
        <p:blipFill>
          <a:blip r:embed="rId2"/>
          <a:srcRect t="17273" b="17273"/>
          <a:stretch>
            <a:fillRect/>
          </a:stretch>
        </p:blipFill>
        <p:spPr>
          <a:xfrm>
            <a:off x="594360" y="1645920"/>
            <a:ext cx="5431536" cy="2468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4360" y="1645920"/>
            <a:ext cx="5431536" cy="2468880"/>
          </a:xfrm>
          <a:prstGeom prst="roundRect">
            <a:avLst>
              <a:gd name="adj" fmla="val 12000"/>
            </a:avLst>
          </a:prstGeom>
          <a:noFill/>
          <a:ln w="1143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un_detail_light.png"/>
          <p:cNvPicPr>
            <a:picLocks noChangeAspect="1"/>
          </p:cNvPicPr>
          <p:nvPr/>
        </p:nvPicPr>
        <p:blipFill>
          <a:blip r:embed="rId3"/>
          <a:srcRect t="17273" b="17273"/>
          <a:stretch>
            <a:fillRect/>
          </a:stretch>
        </p:blipFill>
        <p:spPr>
          <a:xfrm>
            <a:off x="6163056" y="1645920"/>
            <a:ext cx="5431536" cy="24688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63056" y="1645920"/>
            <a:ext cx="5431536" cy="2468880"/>
          </a:xfrm>
          <a:prstGeom prst="roundRect">
            <a:avLst>
              <a:gd name="adj" fmla="val 12000"/>
            </a:avLst>
          </a:prstGeom>
          <a:noFill/>
          <a:ln w="1143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4261104"/>
            <a:ext cx="20116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1">
                <a:solidFill>
                  <a:srgbClr val="087F95"/>
                </a:solidFill>
                <a:latin typeface="Noto Sans"/>
              </a:defRPr>
            </a:pPr>
            <a:r>
              <a:t>RUN PORTFOLIO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4261104"/>
            <a:ext cx="20116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1">
                <a:solidFill>
                  <a:srgbClr val="087F95"/>
                </a:solidFill>
                <a:latin typeface="Noto Sans"/>
              </a:defRPr>
            </a:pPr>
            <a:r>
              <a:t>RUN COCKPIT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663440"/>
            <a:ext cx="3456432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663440"/>
            <a:ext cx="73152" cy="1078992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864607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Status at a glance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5376672"/>
            <a:ext cx="2999232" cy="20116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5E7182"/>
                </a:solidFill>
                <a:latin typeface="Noto Sans"/>
              </a:defRPr>
            </a:pPr>
            <a:r>
              <a:t>Active, attention, completed, and failed runs remain visible.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663440"/>
            <a:ext cx="3456432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70832" y="4663440"/>
            <a:ext cx="73152" cy="1078992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26864" y="4864607"/>
            <a:ext cx="3017519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Lifecycle navigation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6864" y="5376672"/>
            <a:ext cx="2999232" cy="20116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5E7182"/>
                </a:solidFill>
                <a:latin typeface="Noto Sans"/>
              </a:defRPr>
            </a:pPr>
            <a:r>
              <a:t>Stages, gates, tabs, claims, and artifacts are one click away.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47304" y="4663440"/>
            <a:ext cx="3456432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47304" y="4663440"/>
            <a:ext cx="73152" cy="1078992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03336" y="4864607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Safe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5376672"/>
            <a:ext cx="2999232" cy="20116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5E7182"/>
                </a:solidFill>
                <a:latin typeface="Noto Sans"/>
              </a:defRPr>
            </a:pPr>
            <a:r>
              <a:t>Archive and retry update the same view after the backend succeeds.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87F95"/>
                </a:solidFill>
                <a:latin typeface="Noto Sans"/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Researchers can move from profile to literature to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The UI exposes the same boundaries as the scientific workflow rather than hiding them behind a chat box.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35</a:t>
            </a:r>
          </a:p>
        </p:txBody>
      </p:sp>
      <p:pic>
        <p:nvPicPr>
          <p:cNvPr id="10" name="Picture 9" descr="runs_new_light.png"/>
          <p:cNvPicPr>
            <a:picLocks noChangeAspect="1"/>
          </p:cNvPicPr>
          <p:nvPr/>
        </p:nvPicPr>
        <p:blipFill>
          <a:blip r:embed="rId2"/>
          <a:srcRect l="12709" r="12709"/>
          <a:stretch>
            <a:fillRect/>
          </a:stretch>
        </p:blipFill>
        <p:spPr>
          <a:xfrm>
            <a:off x="566928" y="1600200"/>
            <a:ext cx="3584448" cy="33375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1600200"/>
            <a:ext cx="3584448" cy="3337560"/>
          </a:xfrm>
          <a:prstGeom prst="roundRect">
            <a:avLst>
              <a:gd name="adj" fmla="val 12000"/>
            </a:avLst>
          </a:prstGeom>
          <a:noFill/>
          <a:ln w="1143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knowledge_light.png"/>
          <p:cNvPicPr>
            <a:picLocks noChangeAspect="1"/>
          </p:cNvPicPr>
          <p:nvPr/>
        </p:nvPicPr>
        <p:blipFill>
          <a:blip r:embed="rId3"/>
          <a:srcRect l="12709" r="12709"/>
          <a:stretch>
            <a:fillRect/>
          </a:stretch>
        </p:blipFill>
        <p:spPr>
          <a:xfrm>
            <a:off x="4306824" y="1600200"/>
            <a:ext cx="3584448" cy="33375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306824" y="1600200"/>
            <a:ext cx="3584448" cy="3337560"/>
          </a:xfrm>
          <a:prstGeom prst="roundRect">
            <a:avLst>
              <a:gd name="adj" fmla="val 12000"/>
            </a:avLst>
          </a:prstGeom>
          <a:noFill/>
          <a:ln w="1143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odels_light.png"/>
          <p:cNvPicPr>
            <a:picLocks noChangeAspect="1"/>
          </p:cNvPicPr>
          <p:nvPr/>
        </p:nvPicPr>
        <p:blipFill>
          <a:blip r:embed="rId4"/>
          <a:srcRect l="12709" r="12709"/>
          <a:stretch>
            <a:fillRect/>
          </a:stretch>
        </p:blipFill>
        <p:spPr>
          <a:xfrm>
            <a:off x="8046720" y="1600200"/>
            <a:ext cx="3584448" cy="33375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046720" y="1600200"/>
            <a:ext cx="3584448" cy="3337560"/>
          </a:xfrm>
          <a:prstGeom prst="roundRect">
            <a:avLst>
              <a:gd name="adj" fmla="val 12000"/>
            </a:avLst>
          </a:prstGeom>
          <a:noFill/>
          <a:ln w="1143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38928"/>
            <a:ext cx="341985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87F95"/>
                </a:solidFill>
                <a:latin typeface="Noto Sans"/>
              </a:defRPr>
            </a:pPr>
            <a:r>
              <a:t>01 · 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22976"/>
            <a:ext cx="34198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E7182"/>
                </a:solidFill>
                <a:latin typeface="Noto Sans"/>
              </a:defRPr>
            </a:pPr>
            <a:r>
              <a:t>Research profile + 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5138928"/>
            <a:ext cx="341985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750A4"/>
                </a:solidFill>
                <a:latin typeface="Noto Sans"/>
              </a:defRPr>
            </a:pPr>
            <a:r>
              <a:t>02 · Ground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5522976"/>
            <a:ext cx="34198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E7182"/>
                </a:solidFill>
                <a:latin typeface="Noto Sans"/>
              </a:defRPr>
            </a:pPr>
            <a:r>
              <a:t>Credibility-aware PaperCards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2" y="5138928"/>
            <a:ext cx="341985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C98212"/>
                </a:solidFill>
                <a:latin typeface="Noto Sans"/>
              </a:defRPr>
            </a:pPr>
            <a:r>
              <a:t>03 · Explore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2" y="5522976"/>
            <a:ext cx="34198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5E7182"/>
                </a:solidFill>
                <a:latin typeface="Noto Sans"/>
              </a:defRPr>
            </a:pPr>
            <a:r>
              <a:t>Bounded model quick simulation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87F95"/>
                </a:solidFill>
                <a:latin typeface="Noto Sans"/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Reviewers reach the platform over an authenticated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One supervised process on loopback, an outbound TLS tunnel, and HTTP Basic auth covering the API, the SPA, and the live run stream alike.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6583680"/>
            <a:ext cx="708660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8393A0"/>
                </a:solidFill>
                <a:latin typeface="Noto Sans"/>
              </a:defRPr>
            </a:pPr>
            <a:r>
              <a:t>Source: docs/DEPLOYMENT.md · deploy/rcp.service · src/rcp/api/auth.py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" y="1700784"/>
            <a:ext cx="1874519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847088"/>
            <a:ext cx="15453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Reviewer</a:t>
            </a:r>
            <a:br/>
            <a:r>
              <a:t>browser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185416"/>
            <a:ext cx="1581911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nothing to install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59736" y="2203704"/>
            <a:ext cx="310896" cy="0"/>
          </a:xfrm>
          <a:prstGeom prst="line">
            <a:avLst/>
          </a:prstGeom>
          <a:ln w="20320">
            <a:solidFill>
              <a:srgbClr val="087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52928" y="1700784"/>
            <a:ext cx="1874519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1847088"/>
            <a:ext cx="15453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Tailscale</a:t>
            </a:r>
            <a:br/>
            <a:r>
              <a:t>Funnel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185416"/>
            <a:ext cx="1581911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public TLS · 443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36592" y="2203704"/>
            <a:ext cx="310896" cy="0"/>
          </a:xfrm>
          <a:prstGeom prst="line">
            <a:avLst/>
          </a:prstGeom>
          <a:ln w="20320">
            <a:solidFill>
              <a:srgbClr val="21AF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29784" y="1700784"/>
            <a:ext cx="1874519" cy="1005840"/>
          </a:xfrm>
          <a:prstGeom prst="roundRect">
            <a:avLst>
              <a:gd name="adj" fmla="val 12000"/>
            </a:avLst>
          </a:prstGeom>
          <a:solidFill>
            <a:srgbClr val="6750A4"/>
          </a:solidFill>
          <a:ln w="1524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94376" y="1847088"/>
            <a:ext cx="15453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FFFF"/>
                </a:solidFill>
                <a:latin typeface="Noto Sans"/>
              </a:defRPr>
            </a:pPr>
            <a:r>
              <a:t>Basic auth</a:t>
            </a:r>
            <a:br/>
            <a:r>
              <a:t>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2185416"/>
            <a:ext cx="1581911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E4EFF3"/>
                </a:solidFill>
                <a:latin typeface="Noto Sans"/>
              </a:defRPr>
            </a:pPr>
            <a:r>
              <a:t>ASGI middleware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13448" y="2203704"/>
            <a:ext cx="310896" cy="0"/>
          </a:xfrm>
          <a:prstGeom prst="line">
            <a:avLst/>
          </a:prstGeom>
          <a:ln w="20320">
            <a:solidFill>
              <a:srgbClr val="6750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06640" y="1700784"/>
            <a:ext cx="1874519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71232" y="1847088"/>
            <a:ext cx="15453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Supervised</a:t>
            </a:r>
            <a:br/>
            <a:r>
              <a:t>rcp 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2185416"/>
            <a:ext cx="1581911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127.0.0.1 · systemd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90304" y="2203704"/>
            <a:ext cx="310896" cy="0"/>
          </a:xfrm>
          <a:prstGeom prst="line">
            <a:avLst/>
          </a:prstGeom>
          <a:ln w="20320">
            <a:solidFill>
              <a:srgbClr val="087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83496" y="1700784"/>
            <a:ext cx="1874519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48088" y="1847088"/>
            <a:ext cx="15453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Run</a:t>
            </a:r>
            <a:br/>
            <a:r>
              <a:t>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185416"/>
            <a:ext cx="1581911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30" b="0">
                <a:solidFill>
                  <a:srgbClr val="5E7182"/>
                </a:solidFill>
                <a:latin typeface="Noto Sans"/>
              </a:defRPr>
            </a:pPr>
            <a:r>
              <a:t>one worker · Docker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2962656"/>
            <a:ext cx="3520440" cy="1444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2962656"/>
            <a:ext cx="73152" cy="1444752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3163824"/>
            <a:ext cx="308152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Fail closed by default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3675888"/>
            <a:ext cx="30632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E7182"/>
                </a:solidFill>
                <a:latin typeface="Noto Sans"/>
              </a:defRPr>
            </a:pPr>
            <a:r>
              <a:t>`rcp serve` will not start without a password, will not accept one under 16 characters, and will not disable auth on a non-loopback host.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4256" y="2962656"/>
            <a:ext cx="3520440" cy="1444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4256" y="2962656"/>
            <a:ext cx="73152" cy="1444752"/>
          </a:xfrm>
          <a:prstGeom prst="rect">
            <a:avLst/>
          </a:prstGeom>
          <a:solidFill>
            <a:srgbClr val="21AFC1"/>
          </a:solidFill>
          <a:ln w="10160">
            <a:solidFill>
              <a:srgbClr val="21A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0288" y="3163824"/>
            <a:ext cx="3081527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Nothing streamed was broken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0288" y="3675888"/>
            <a:ext cx="30632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E7182"/>
                </a:solidFill>
                <a:latin typeface="Noto Sans"/>
              </a:defRPr>
            </a:pPr>
            <a:r>
              <a:t>A pass-through gate, not a response wrapper: run events keep flowing (with a 15 s keepalive for proxy idle timeouts) and PDF range requests still return 206.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28431" y="2962656"/>
            <a:ext cx="3520440" cy="1444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28431" y="2962656"/>
            <a:ext cx="73152" cy="1444752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84463" y="3163824"/>
            <a:ext cx="308152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Supervised, single worker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4463" y="3675888"/>
            <a:ext cx="306324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E7182"/>
                </a:solidFill>
                <a:latin typeface="Noto Sans"/>
              </a:defRPr>
            </a:pPr>
            <a:r>
              <a:t>A systemd unit with a 120 s stop timeout for the 1200 s simulation call. Live run state is in-process, so a worker count is structurally refused.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4572000"/>
            <a:ext cx="5358384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4572000"/>
            <a:ext cx="73152" cy="1298448"/>
          </a:xfrm>
          <a:prstGeom prst="rect">
            <a:avLst/>
          </a:prstGeom>
          <a:solidFill>
            <a:srgbClr val="16825D"/>
          </a:solidFill>
          <a:ln w="10160">
            <a:solidFill>
              <a:srgbClr val="1682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4773168"/>
            <a:ext cx="491947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What it protects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" y="5285232"/>
            <a:ext cx="4901184" cy="42062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E7182"/>
                </a:solidFill>
                <a:latin typeface="Noto Sans"/>
              </a:defRPr>
            </a:pPr>
            <a:r>
              <a:t>Anonymous access to the API, the interface, the event stream, and the schema — the interactive docs are withdrawn whenever auth is on.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81928" y="4572000"/>
            <a:ext cx="5358384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1928" y="4572000"/>
            <a:ext cx="73152" cy="1298448"/>
          </a:xfrm>
          <a:prstGeom prst="rect">
            <a:avLst/>
          </a:prstGeom>
          <a:solidFill>
            <a:srgbClr val="B94747"/>
          </a:solidFill>
          <a:ln w="10160">
            <a:solidFill>
              <a:srgbClr val="B9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4773168"/>
            <a:ext cx="491947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What it is not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5285232"/>
            <a:ext cx="4901184" cy="42062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E7182"/>
                </a:solidFill>
                <a:latin typeface="Noto Sans"/>
              </a:defRPr>
            </a:pPr>
            <a:r>
              <a:t>One shared credential identifies nobody, rate-limits nothing, and caps no spend. The Funnel hostname is published to Certificate Transparency logs.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6016752"/>
            <a:ext cx="11000232" cy="438912"/>
          </a:xfrm>
          <a:prstGeom prst="roundRect">
            <a:avLst>
              <a:gd name="adj" fmla="val 12000"/>
            </a:avLst>
          </a:prstGeom>
          <a:solidFill>
            <a:srgbClr val="FFF3DC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" y="6163056"/>
            <a:ext cx="10561319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C98212"/>
                </a:solidFill>
                <a:latin typeface="Noto Sans"/>
              </a:defRPr>
            </a:pPr>
            <a:r>
              <a:t>The credential is transport protection, not evidence of who did what—so exposure stays temporary and `reviewer_id` stays self-declared.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87F95"/>
                </a:solidFill>
                <a:latin typeface="Noto Sans"/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Evaluation separates software correctness from scientific validity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Passing tests proves the platform behaves as declared; it does not prove a model represents a facility.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6583680"/>
            <a:ext cx="708660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680" b="0">
                <a:solidFill>
                  <a:srgbClr val="8393A0"/>
                </a:solidFill>
                <a:latin typeface="Noto Sans"/>
              </a:defRPr>
            </a:pPr>
            <a:r>
              <a:t>Source: docs/EVALUATION.md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" y="1737360"/>
            <a:ext cx="3429000" cy="3355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737360"/>
            <a:ext cx="73152" cy="3355848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0392" y="1956815"/>
            <a:ext cx="438912" cy="438912"/>
          </a:xfrm>
          <a:prstGeom prst="ellipse">
            <a:avLst/>
          </a:prstGeom>
          <a:solidFill>
            <a:srgbClr val="087F95"/>
          </a:solidFill>
          <a:ln w="1270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1956815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1" y="1938528"/>
            <a:ext cx="247802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Automated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450591"/>
            <a:ext cx="2971800" cy="2478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40" b="0">
                <a:solidFill>
                  <a:srgbClr val="5E7182"/>
                </a:solidFill>
                <a:latin typeface="Noto Sans"/>
              </a:defRPr>
            </a:pPr>
            <a:r>
              <a:t>Backend tests</a:t>
            </a:r>
            <a:br/>
            <a:r>
              <a:t>Frontend interaction tests</a:t>
            </a:r>
            <a:br/>
            <a:r>
              <a:t>Production build</a:t>
            </a:r>
            <a:br/>
            <a:r>
              <a:t>Environment doctor</a:t>
            </a:r>
            <a:br/>
            <a:r>
              <a:t>Model validation checks</a:t>
            </a:r>
            <a:br/>
            <a:r>
              <a:t>Raw integrity + study quality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9976" y="1737360"/>
            <a:ext cx="3429000" cy="3355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9976" y="1737360"/>
            <a:ext cx="73152" cy="3355848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99432" y="1956815"/>
            <a:ext cx="438912" cy="438912"/>
          </a:xfrm>
          <a:prstGeom prst="ellipse">
            <a:avLst/>
          </a:prstGeom>
          <a:solidFill>
            <a:srgbClr val="6750A4"/>
          </a:solidFill>
          <a:ln w="1270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956815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8072" y="1938528"/>
            <a:ext cx="247802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Numerical regression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8" y="2450591"/>
            <a:ext cx="2971800" cy="2478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40" b="0">
                <a:solidFill>
                  <a:srgbClr val="5E7182"/>
                </a:solidFill>
                <a:latin typeface="Noto Sans"/>
              </a:defRPr>
            </a:pPr>
            <a:r>
              <a:t>Pinned upstream trajectories</a:t>
            </a:r>
            <a:br/>
            <a:r>
              <a:t>Normalized RMSE threshold ≤ 0.5%</a:t>
            </a:r>
            <a:br/>
            <a:r>
              <a:t>Benchmark repeatability</a:t>
            </a:r>
            <a:br/>
            <a:r>
              <a:t>Metric completeness</a:t>
            </a:r>
            <a:br/>
            <a:r>
              <a:t>Physical plausibility screens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9016" y="1737360"/>
            <a:ext cx="3429000" cy="3355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29016" y="1737360"/>
            <a:ext cx="73152" cy="3355848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48472" y="1956815"/>
            <a:ext cx="438912" cy="438912"/>
          </a:xfrm>
          <a:prstGeom prst="ellipse">
            <a:avLst/>
          </a:prstGeom>
          <a:solidFill>
            <a:srgbClr val="C98212"/>
          </a:solidFill>
          <a:ln w="1270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8472" y="1956815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7112" y="1938528"/>
            <a:ext cx="247802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Manual blind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2450591"/>
            <a:ext cx="2971800" cy="2478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40" b="0">
                <a:solidFill>
                  <a:srgbClr val="5E7182"/>
                </a:solidFill>
                <a:latin typeface="Noto Sans"/>
              </a:defRPr>
            </a:pPr>
            <a:r>
              <a:t>Traceability</a:t>
            </a:r>
            <a:br/>
            <a:r>
              <a:t>Missing-evidence visibility</a:t>
            </a:r>
            <a:br/>
            <a:r>
              <a:t>Preregistration</a:t>
            </a:r>
            <a:br/>
            <a:r>
              <a:t>Reproducibility</a:t>
            </a:r>
            <a:br/>
            <a:r>
              <a:t>Calibration disclosure</a:t>
            </a:r>
            <a:br/>
            <a:r>
              <a:t>Verification 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2" y="5431536"/>
            <a:ext cx="10314432" cy="585216"/>
          </a:xfrm>
          <a:prstGeom prst="roundRect">
            <a:avLst>
              <a:gd name="adj" fmla="val 12000"/>
            </a:avLst>
          </a:prstGeom>
          <a:solidFill>
            <a:srgbClr val="FFF3DC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1288" y="5577840"/>
            <a:ext cx="9875519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C98212"/>
                </a:solidFill>
                <a:latin typeface="Noto Sans"/>
              </a:defRPr>
            </a:pPr>
            <a:r>
              <a:t>Manual review uses at least two reviewers and never collapses into a single ‘scientific validity score.’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87F95"/>
                </a:solidFill>
                <a:latin typeface="Noto Sans"/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Current state: a tested research prototype with a credible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The platform is ready for guided research use and PI scrutiny—not unsupervised scientific deployment.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46504"/>
            <a:ext cx="2532888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46504"/>
            <a:ext cx="2532888" cy="54864"/>
          </a:xfrm>
          <a:prstGeom prst="rect">
            <a:avLst/>
          </a:prstGeom>
          <a:solidFill>
            <a:srgbClr val="16825D"/>
          </a:solidFill>
          <a:ln w="10160">
            <a:solidFill>
              <a:srgbClr val="1682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956816"/>
            <a:ext cx="2130552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6825D"/>
                </a:solidFill>
                <a:latin typeface="Noto Sans"/>
              </a:defRPr>
            </a:pPr>
            <a:r>
              <a:t>174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496312"/>
            <a:ext cx="213055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backend tests passed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746504"/>
            <a:ext cx="2532888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1746504"/>
            <a:ext cx="2532888" cy="54864"/>
          </a:xfrm>
          <a:prstGeom prst="rect">
            <a:avLst/>
          </a:prstGeom>
          <a:solidFill>
            <a:srgbClr val="16825D"/>
          </a:solidFill>
          <a:ln w="10160">
            <a:solidFill>
              <a:srgbClr val="1682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1956816"/>
            <a:ext cx="2130552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6825D"/>
                </a:solidFill>
                <a:latin typeface="Noto Sans"/>
              </a:defRPr>
            </a:pPr>
            <a:r>
              <a:t>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2496312"/>
            <a:ext cx="213055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frontend tests passed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08192" y="1746504"/>
            <a:ext cx="2532888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08192" y="1746504"/>
            <a:ext cx="2532888" cy="54864"/>
          </a:xfrm>
          <a:prstGeom prst="rect">
            <a:avLst/>
          </a:prstGeom>
          <a:solidFill>
            <a:srgbClr val="16825D"/>
          </a:solidFill>
          <a:ln w="10160">
            <a:solidFill>
              <a:srgbClr val="1682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1956816"/>
            <a:ext cx="2130552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6825D"/>
                </a:solidFill>
                <a:latin typeface="Noto Sans"/>
              </a:defRPr>
            </a:pPr>
            <a:r>
              <a:t>7 /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496312"/>
            <a:ext cx="213055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conceptual model checks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33104" y="1746504"/>
            <a:ext cx="2532888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33104" y="1746504"/>
            <a:ext cx="2532888" cy="54864"/>
          </a:xfrm>
          <a:prstGeom prst="rect">
            <a:avLst/>
          </a:prstGeom>
          <a:solidFill>
            <a:srgbClr val="16825D"/>
          </a:solidFill>
          <a:ln w="10160">
            <a:solidFill>
              <a:srgbClr val="1682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34272" y="1956816"/>
            <a:ext cx="2130552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6825D"/>
                </a:solidFill>
                <a:latin typeface="Noto Sans"/>
              </a:defRPr>
            </a:pPr>
            <a:r>
              <a:t>valid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4272" y="2496312"/>
            <a:ext cx="213055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62231"/>
                </a:solidFill>
                <a:latin typeface="Noto Sans"/>
              </a:defRPr>
            </a:pPr>
            <a:r>
              <a:t>18-case study quality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447288"/>
            <a:ext cx="3447288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447288"/>
            <a:ext cx="73152" cy="1536192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648456"/>
            <a:ext cx="300837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Strong today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60520"/>
            <a:ext cx="2990088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70" b="0">
                <a:solidFill>
                  <a:srgbClr val="5E7182"/>
                </a:solidFill>
                <a:latin typeface="Noto Sans"/>
              </a:defRPr>
            </a:pPr>
            <a:r>
              <a:t>Auditable workflow, bounded registry, pinned runtime, evidence hashes, revisioned analysis, coherent UI, and a supervised authenticated deployment.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3447288"/>
            <a:ext cx="3447288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70832" y="3447288"/>
            <a:ext cx="73152" cy="1536192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6864" y="3648456"/>
            <a:ext cx="3008375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Needs research 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6864" y="4160520"/>
            <a:ext cx="2990088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70" b="0">
                <a:solidFill>
                  <a:srgbClr val="5E7182"/>
                </a:solidFill>
                <a:latin typeface="Noto Sans"/>
              </a:defRPr>
            </a:pPr>
            <a:r>
              <a:t>Facility calibration, uncertainty quantification, broader scenarios, and independent replication.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83296" y="3447288"/>
            <a:ext cx="3447288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83296" y="3447288"/>
            <a:ext cx="73152" cy="1536192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9327" y="3648456"/>
            <a:ext cx="300837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62231"/>
                </a:solidFill>
                <a:latin typeface="Noto Sans"/>
              </a:defRPr>
            </a:pPr>
            <a:r>
              <a:t>Needs product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4160520"/>
            <a:ext cx="2990088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70" b="0">
                <a:solidFill>
                  <a:srgbClr val="5E7182"/>
                </a:solidFill>
                <a:latin typeface="Noto Sans"/>
              </a:defRPr>
            </a:pPr>
            <a:r>
              <a:t>Per-reviewer identity, rate limiting and spend caps, multi-user provenance, long-running job infrastructure, and observability.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44168" y="5404104"/>
            <a:ext cx="9500616" cy="621792"/>
          </a:xfrm>
          <a:prstGeom prst="roundRect">
            <a:avLst>
              <a:gd name="adj" fmla="val 12000"/>
            </a:avLst>
          </a:prstGeom>
          <a:solidFill>
            <a:srgbClr val="DDF4F7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63624" y="5550408"/>
            <a:ext cx="906170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87F95"/>
                </a:solidFill>
                <a:latin typeface="Noto Sans"/>
              </a:defRPr>
            </a:pPr>
            <a:r>
              <a:t>Readiness claim: strong prototype for supervised, reproducible computational studies.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6750A4"/>
                </a:solidFill>
                <a:latin typeface="Noto Sans"/>
              </a:defRPr>
            </a:pPr>
            <a: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The largest risks are scientific, not cosmetic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Each risk has a concrete mitigation path; none should be hidden by a polished interface.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36776"/>
            <a:ext cx="1097280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636776"/>
            <a:ext cx="82296" cy="859536"/>
          </a:xfrm>
          <a:prstGeom prst="rect">
            <a:avLst/>
          </a:prstGeom>
          <a:solidFill>
            <a:srgbClr val="B94747"/>
          </a:solidFill>
          <a:ln w="10160">
            <a:solidFill>
              <a:srgbClr val="B9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801368"/>
            <a:ext cx="1828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Calibration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2" y="1773936"/>
            <a:ext cx="3584448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5E7182"/>
                </a:solidFill>
                <a:latin typeface="Noto Sans"/>
              </a:defRPr>
            </a:pPr>
            <a:r>
              <a:t>Library regression is not facility validation.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1968" y="1792224"/>
            <a:ext cx="1024128" cy="283464"/>
          </a:xfrm>
          <a:prstGeom prst="roundRect">
            <a:avLst>
              <a:gd name="adj" fmla="val 12000"/>
            </a:avLst>
          </a:prstGeom>
          <a:solidFill>
            <a:srgbClr val="EDF2F5"/>
          </a:solidFill>
          <a:ln w="10160">
            <a:solidFill>
              <a:srgbClr val="ED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1805939"/>
            <a:ext cx="950976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30" b="1">
                <a:solidFill>
                  <a:srgbClr val="B94747"/>
                </a:solidFill>
                <a:latin typeface="Noto Sans"/>
              </a:defRPr>
            </a:pPr>
            <a:r>
              <a:t>MITIGATION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8975" y="1773936"/>
            <a:ext cx="35112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233444"/>
                </a:solidFill>
                <a:latin typeface="Noto Sans"/>
              </a:defRPr>
            </a:pPr>
            <a:r>
              <a:t>Acquire measured plant data; calibrate and hold out validation periods.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697480"/>
            <a:ext cx="1097280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697480"/>
            <a:ext cx="82296" cy="859536"/>
          </a:xfrm>
          <a:prstGeom prst="rect">
            <a:avLst/>
          </a:prstGeom>
          <a:solidFill>
            <a:srgbClr val="C98212"/>
          </a:solidFill>
          <a:ln w="1016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2862072"/>
            <a:ext cx="1828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Scenario narrowness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6352" y="2834640"/>
            <a:ext cx="3584448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5E7182"/>
                </a:solidFill>
                <a:latin typeface="Noto Sans"/>
              </a:defRPr>
            </a:pPr>
            <a:r>
              <a:t>One dry-cold weather profile and a 3 × 3 operating matrix.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01968" y="2852928"/>
            <a:ext cx="1024128" cy="283464"/>
          </a:xfrm>
          <a:prstGeom prst="roundRect">
            <a:avLst>
              <a:gd name="adj" fmla="val 12000"/>
            </a:avLst>
          </a:prstGeom>
          <a:solidFill>
            <a:srgbClr val="EDF2F5"/>
          </a:solidFill>
          <a:ln w="10160">
            <a:solidFill>
              <a:srgbClr val="ED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2866644"/>
            <a:ext cx="950976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30" b="1">
                <a:solidFill>
                  <a:srgbClr val="C98212"/>
                </a:solidFill>
                <a:latin typeface="Noto Sans"/>
              </a:defRPr>
            </a:pPr>
            <a:r>
              <a:t>MITIGATION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8975" y="2834640"/>
            <a:ext cx="35112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233444"/>
                </a:solidFill>
                <a:latin typeface="Noto Sans"/>
              </a:defRPr>
            </a:pPr>
            <a:r>
              <a:t>Add climates, seasons, load profiles, faults, and control variants.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758183"/>
            <a:ext cx="1097280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758183"/>
            <a:ext cx="82296" cy="859536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3922775"/>
            <a:ext cx="1828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LLM dependence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16352" y="3895344"/>
            <a:ext cx="3584448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5E7182"/>
                </a:solidFill>
                <a:latin typeface="Noto Sans"/>
              </a:defRPr>
            </a:pPr>
            <a:r>
              <a:t>Hypothesis quality varies with model and retrieval coverage.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01968" y="3913631"/>
            <a:ext cx="1024128" cy="283464"/>
          </a:xfrm>
          <a:prstGeom prst="roundRect">
            <a:avLst>
              <a:gd name="adj" fmla="val 12000"/>
            </a:avLst>
          </a:prstGeom>
          <a:solidFill>
            <a:srgbClr val="EDF2F5"/>
          </a:solidFill>
          <a:ln w="10160">
            <a:solidFill>
              <a:srgbClr val="ED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8544" y="3927347"/>
            <a:ext cx="950976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30" b="1">
                <a:solidFill>
                  <a:srgbClr val="6750A4"/>
                </a:solidFill>
                <a:latin typeface="Noto Sans"/>
              </a:defRPr>
            </a:pPr>
            <a:r>
              <a:t>MITIGATION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08975" y="3895344"/>
            <a:ext cx="35112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233444"/>
                </a:solidFill>
                <a:latin typeface="Noto Sans"/>
              </a:defRPr>
            </a:pPr>
            <a:r>
              <a:t>Benchmark prompts/models; capture uncertainty; retain human selection.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818888"/>
            <a:ext cx="1097280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818888"/>
            <a:ext cx="82296" cy="859536"/>
          </a:xfrm>
          <a:prstGeom prst="rect">
            <a:avLst/>
          </a:prstGeom>
          <a:solidFill>
            <a:srgbClr val="087F95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4983479"/>
            <a:ext cx="1828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62231"/>
                </a:solidFill>
                <a:latin typeface="Noto Sans"/>
              </a:defRPr>
            </a:pPr>
            <a:r>
              <a:t>Numerical events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956048"/>
            <a:ext cx="3584448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5E7182"/>
                </a:solidFill>
                <a:latin typeface="Noto Sans"/>
              </a:defRPr>
            </a:pPr>
            <a:r>
              <a:t>Isolated mover-power impulses require a declared screen.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01968" y="4974336"/>
            <a:ext cx="1024128" cy="283464"/>
          </a:xfrm>
          <a:prstGeom prst="roundRect">
            <a:avLst>
              <a:gd name="adj" fmla="val 12000"/>
            </a:avLst>
          </a:prstGeom>
          <a:solidFill>
            <a:srgbClr val="EDF2F5"/>
          </a:solidFill>
          <a:ln w="10160">
            <a:solidFill>
              <a:srgbClr val="ED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38544" y="4988051"/>
            <a:ext cx="950976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30" b="1">
                <a:solidFill>
                  <a:srgbClr val="087F95"/>
                </a:solidFill>
                <a:latin typeface="Noto Sans"/>
              </a:defRPr>
            </a:pPr>
            <a:r>
              <a:t>MITIGATION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08975" y="4956048"/>
            <a:ext cx="35112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233444"/>
                </a:solidFill>
                <a:latin typeface="Noto Sans"/>
              </a:defRPr>
            </a:pPr>
            <a:r>
              <a:t>Investigate upstream dynamics and compare alternate solvers/tolerances.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98448" y="5843016"/>
            <a:ext cx="9573768" cy="347472"/>
          </a:xfrm>
          <a:prstGeom prst="roundRect">
            <a:avLst>
              <a:gd name="adj" fmla="val 12000"/>
            </a:avLst>
          </a:prstGeom>
          <a:solidFill>
            <a:srgbClr val="162231"/>
          </a:solidFill>
          <a:ln w="10160">
            <a:solidFill>
              <a:srgbClr val="162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17904" y="5989320"/>
            <a:ext cx="9134856" cy="731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FFFFFF"/>
                </a:solidFill>
                <a:latin typeface="Noto Sans"/>
              </a:defRPr>
            </a:pPr>
            <a:r>
              <a:t>The platform makes these limitations easier to see; resolving them remains research work.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02336"/>
            <a:ext cx="73152" cy="457200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2377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6750A4"/>
                </a:solidFill>
                <a:latin typeface="Noto Sans"/>
              </a:defRPr>
            </a:pPr>
            <a: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57784"/>
            <a:ext cx="10972800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162231"/>
                </a:solidFill>
                <a:latin typeface="Noto Sans"/>
              </a:defRPr>
            </a:pPr>
            <a:r>
              <a:t>The next phase should deepen evidence before broadening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71016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E7182"/>
                </a:solidFill>
                <a:latin typeface="Noto Sans"/>
              </a:defRPr>
            </a:pPr>
            <a:r>
              <a:t>A staged roadmap keeps scientific credibility ahead of product surface area.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6565392"/>
            <a:ext cx="11365992" cy="0"/>
          </a:xfrm>
          <a:prstGeom prst="line">
            <a:avLst/>
          </a:prstGeom>
          <a:ln w="889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656832"/>
            <a:ext cx="109728" cy="36576"/>
          </a:xfrm>
          <a:prstGeom prst="rect">
            <a:avLst/>
          </a:prstGeom>
          <a:solidFill>
            <a:srgbClr val="6750A4"/>
          </a:solidFill>
          <a:ln w="1016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3474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RCP.2026/11  ·  PI REVIEW  · 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83680"/>
            <a:ext cx="59436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8393A0"/>
                </a:solidFill>
                <a:latin typeface="Noto Sans"/>
              </a:defRPr>
            </a:pPr>
            <a: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19072"/>
            <a:ext cx="3447288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1975104"/>
            <a:ext cx="1188720" cy="283464"/>
          </a:xfrm>
          <a:prstGeom prst="roundRect">
            <a:avLst>
              <a:gd name="adj" fmla="val 12000"/>
            </a:avLst>
          </a:prstGeom>
          <a:solidFill>
            <a:srgbClr val="EDF2F5"/>
          </a:solidFill>
          <a:ln w="10160">
            <a:solidFill>
              <a:srgbClr val="ED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88820"/>
            <a:ext cx="111556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87F95"/>
                </a:solidFill>
                <a:latin typeface="Noto Sans"/>
              </a:defRPr>
            </a:pPr>
            <a:r>
              <a:t>0–3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587752"/>
            <a:ext cx="28346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2231"/>
                </a:solidFill>
                <a:latin typeface="Noto Sans"/>
              </a:defRPr>
            </a:pPr>
            <a:r>
              <a:t>VALIDATE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6112" y="3063240"/>
            <a:ext cx="2843784" cy="0"/>
          </a:xfrm>
          <a:prstGeom prst="line">
            <a:avLst/>
          </a:prstGeom>
          <a:ln w="1143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96112" y="3374136"/>
            <a:ext cx="2788920" cy="1444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5E7182"/>
                </a:solidFill>
                <a:latin typeface="Noto Sans"/>
              </a:defRPr>
            </a:pPr>
            <a:r>
              <a:t>Replicate benchmark</a:t>
            </a:r>
            <a:br/>
            <a:r>
              <a:t>Investigate power impulses</a:t>
            </a:r>
            <a:br/>
            <a:r>
              <a:t>Add uncertainty bands</a:t>
            </a:r>
            <a:br/>
            <a:r>
              <a:t>Define calibration dataset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719072"/>
            <a:ext cx="3447288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90872" y="1975104"/>
            <a:ext cx="1188720" cy="283464"/>
          </a:xfrm>
          <a:prstGeom prst="roundRect">
            <a:avLst>
              <a:gd name="adj" fmla="val 12000"/>
            </a:avLst>
          </a:prstGeom>
          <a:solidFill>
            <a:srgbClr val="EDF2F5"/>
          </a:solidFill>
          <a:ln w="10160">
            <a:solidFill>
              <a:srgbClr val="ED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27448" y="1988820"/>
            <a:ext cx="111556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750A4"/>
                </a:solidFill>
                <a:latin typeface="Noto Sans"/>
              </a:defRPr>
            </a:pPr>
            <a:r>
              <a:t>3–6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2587752"/>
            <a:ext cx="28346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2231"/>
                </a:solidFill>
                <a:latin typeface="Noto Sans"/>
              </a:defRPr>
            </a:pPr>
            <a:r>
              <a:t>GENERALIZE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90872" y="3063240"/>
            <a:ext cx="2843784" cy="0"/>
          </a:xfrm>
          <a:prstGeom prst="line">
            <a:avLst/>
          </a:prstGeom>
          <a:ln w="1143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90872" y="3374136"/>
            <a:ext cx="2788920" cy="1444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5E7182"/>
                </a:solidFill>
                <a:latin typeface="Noto Sans"/>
              </a:defRPr>
            </a:pPr>
            <a:r>
              <a:t>New weather profiles</a:t>
            </a:r>
            <a:br/>
            <a:r>
              <a:t>Dynamic load traces</a:t>
            </a:r>
            <a:br/>
            <a:r>
              <a:t>Control variants</a:t>
            </a:r>
            <a:br/>
            <a:r>
              <a:t>Cross-solver comparison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719072"/>
            <a:ext cx="3447288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C98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85632" y="1975104"/>
            <a:ext cx="1188720" cy="283464"/>
          </a:xfrm>
          <a:prstGeom prst="roundRect">
            <a:avLst>
              <a:gd name="adj" fmla="val 12000"/>
            </a:avLst>
          </a:prstGeom>
          <a:solidFill>
            <a:srgbClr val="EDF2F5"/>
          </a:solidFill>
          <a:ln w="10160">
            <a:solidFill>
              <a:srgbClr val="ED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7" y="1988820"/>
            <a:ext cx="111556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98212"/>
                </a:solidFill>
                <a:latin typeface="Noto Sans"/>
              </a:defRPr>
            </a:pPr>
            <a:r>
              <a:t>6–12 months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2587752"/>
            <a:ext cx="28346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2231"/>
                </a:solidFill>
                <a:latin typeface="Noto Sans"/>
              </a:defRPr>
            </a:pPr>
            <a:r>
              <a:t>TRANSLATE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3063240"/>
            <a:ext cx="2843784" cy="0"/>
          </a:xfrm>
          <a:prstGeom prst="line">
            <a:avLst/>
          </a:prstGeom>
          <a:ln w="11430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85632" y="3374136"/>
            <a:ext cx="2788920" cy="1444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5E7182"/>
                </a:solidFill>
                <a:latin typeface="Noto Sans"/>
              </a:defRPr>
            </a:pPr>
            <a:r>
              <a:t>Facility calibration</a:t>
            </a:r>
            <a:br/>
            <a:r>
              <a:t>Prospective case study</a:t>
            </a:r>
            <a:br/>
            <a:r>
              <a:t>Independent reviewer study</a:t>
            </a:r>
            <a:br/>
            <a:r>
              <a:t>Operational deployment 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" y="5614416"/>
            <a:ext cx="10268712" cy="539496"/>
          </a:xfrm>
          <a:prstGeom prst="roundRect">
            <a:avLst>
              <a:gd name="adj" fmla="val 12000"/>
            </a:avLst>
          </a:prstGeom>
          <a:solidFill>
            <a:srgbClr val="DDF4F7"/>
          </a:solidFill>
          <a:ln w="10160">
            <a:solidFill>
              <a:srgbClr val="08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79576" y="5760720"/>
            <a:ext cx="9829800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87F95"/>
                </a:solidFill>
                <a:latin typeface="Noto Sans"/>
              </a:defRPr>
            </a:pPr>
            <a:r>
              <a:t>Decision rule: do not add a new autonomous step until its inputs, outputs, failure modes, and review point are explicit.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A24"/>
          </a:solidFill>
          <a:ln w="10160">
            <a:solidFill>
              <a:srgbClr val="101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21AFC1"/>
                </a:solidFill>
                <a:latin typeface="Noto Sans"/>
              </a:defRPr>
            </a:pPr>
            <a:r>
              <a:t>PI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996696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Noto Sans"/>
              </a:defRPr>
            </a:pPr>
            <a:r>
              <a:t>Three decisions unlock the next research phase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221992"/>
            <a:ext cx="3419856" cy="2377440"/>
          </a:xfrm>
          <a:prstGeom prst="roundRect">
            <a:avLst>
              <a:gd name="adj" fmla="val 12000"/>
            </a:avLst>
          </a:prstGeom>
          <a:solidFill>
            <a:srgbClr val="172735"/>
          </a:solidFill>
          <a:ln w="12700">
            <a:solidFill>
              <a:srgbClr val="345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487168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1AFC1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907792"/>
            <a:ext cx="28346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"/>
              </a:defRPr>
            </a:pPr>
            <a:r>
              <a:t>Scientific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456432"/>
            <a:ext cx="2834640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30" b="0">
                <a:solidFill>
                  <a:srgbClr val="BED0DA"/>
                </a:solidFill>
                <a:latin typeface="Noto Sans"/>
              </a:defRPr>
            </a:pPr>
            <a:r>
              <a:t>Optimize energy only—or formalize a weighted energy / thermal-margin objective?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1416" y="2221992"/>
            <a:ext cx="3419856" cy="2377440"/>
          </a:xfrm>
          <a:prstGeom prst="roundRect">
            <a:avLst>
              <a:gd name="adj" fmla="val 12000"/>
            </a:avLst>
          </a:prstGeom>
          <a:solidFill>
            <a:srgbClr val="172735"/>
          </a:solidFill>
          <a:ln w="12700">
            <a:solidFill>
              <a:srgbClr val="345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0016" y="2487168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1AFC1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2907792"/>
            <a:ext cx="28346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"/>
              </a:defRPr>
            </a:pPr>
            <a:r>
              <a:t>Validation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3456432"/>
            <a:ext cx="2834640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30" b="0">
                <a:solidFill>
                  <a:srgbClr val="BED0DA"/>
                </a:solidFill>
                <a:latin typeface="Noto Sans"/>
              </a:defRPr>
            </a:pPr>
            <a:r>
              <a:t>Which facility data, collaborator, or measured benchmark can anchor calibration?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84464" y="2221992"/>
            <a:ext cx="3419856" cy="2377440"/>
          </a:xfrm>
          <a:prstGeom prst="roundRect">
            <a:avLst>
              <a:gd name="adj" fmla="val 12000"/>
            </a:avLst>
          </a:prstGeom>
          <a:solidFill>
            <a:srgbClr val="172735"/>
          </a:solidFill>
          <a:ln w="12700">
            <a:solidFill>
              <a:srgbClr val="345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13064" y="2487168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1AFC1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3064" y="2907792"/>
            <a:ext cx="28346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"/>
              </a:defRPr>
            </a:pPr>
            <a:r>
              <a:t>Evaluation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3064" y="3456432"/>
            <a:ext cx="2834640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30" b="0">
                <a:solidFill>
                  <a:srgbClr val="BED0DA"/>
                </a:solidFill>
                <a:latin typeface="Noto Sans"/>
              </a:defRPr>
            </a:pPr>
            <a:r>
              <a:t>Which users and reviewers should test traceability and verification-time gains?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5138928"/>
            <a:ext cx="10808208" cy="0"/>
          </a:xfrm>
          <a:prstGeom prst="line">
            <a:avLst/>
          </a:prstGeom>
          <a:ln w="12700">
            <a:solidFill>
              <a:srgbClr val="3952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5468112"/>
            <a:ext cx="1051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1AFC1"/>
                </a:solidFill>
                <a:latin typeface="Noto Sans"/>
              </a:defRPr>
            </a:pPr>
            <a:r>
              <a:t>Take-away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376672"/>
            <a:ext cx="9144000" cy="6766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Noto Sans"/>
              </a:defRPr>
            </a:pPr>
            <a:r>
              <a:t>RCP can make simulation research faster and more reviewable—provided the model, protocol, and human judgment remain first-class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364224"/>
            <a:ext cx="30175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78909E"/>
                </a:solidFill>
                <a:latin typeface="Noto Sans"/>
              </a:defRPr>
            </a:pPr>
            <a:r>
              <a:t>RCP.2026/11  ·  17 AUGUST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355080"/>
            <a:ext cx="548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78909E"/>
                </a:solidFill>
                <a:latin typeface="Noto Sans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RCP Platform — Research Cockpit for Auditable Modelica Studies</dc:title>
  <dc:subject>PI review: research method, Modelica benchmark, LLM orchestration, evidence, and product</dc:subject>
  <dc:creator>RCP Platform team</dc:creator>
  <cp:keywords>Modelica, LLM, OpenModelica, research cockpit, reproducibility, data-center cooling</cp:keywords>
  <dc:description>Generated from repository evidence on 17 August 2026.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